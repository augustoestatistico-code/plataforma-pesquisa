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50" r:id="rId1"/>
  </p:sldMasterIdLst>
  <p:notesMasterIdLst>
    <p:notesMasterId r:id="rId51"/>
  </p:notesMasterIdLst>
  <p:handoutMasterIdLst>
    <p:handoutMasterId r:id="rId52"/>
  </p:handoutMasterIdLst>
  <p:sldIdLst>
    <p:sldId id="345" r:id="rId2"/>
    <p:sldId id="11257" r:id="rId3"/>
    <p:sldId id="679" r:id="rId4"/>
    <p:sldId id="1468" r:id="rId5"/>
    <p:sldId id="10265" r:id="rId6"/>
    <p:sldId id="10266" r:id="rId7"/>
    <p:sldId id="675" r:id="rId8"/>
    <p:sldId id="11215" r:id="rId9"/>
    <p:sldId id="11216" r:id="rId10"/>
    <p:sldId id="11217" r:id="rId11"/>
    <p:sldId id="11218" r:id="rId12"/>
    <p:sldId id="11219" r:id="rId13"/>
    <p:sldId id="11220" r:id="rId14"/>
    <p:sldId id="11221" r:id="rId15"/>
    <p:sldId id="11222" r:id="rId16"/>
    <p:sldId id="11223" r:id="rId17"/>
    <p:sldId id="11224" r:id="rId18"/>
    <p:sldId id="11225" r:id="rId19"/>
    <p:sldId id="11226" r:id="rId20"/>
    <p:sldId id="11227" r:id="rId21"/>
    <p:sldId id="11228" r:id="rId22"/>
    <p:sldId id="11229" r:id="rId23"/>
    <p:sldId id="11230" r:id="rId24"/>
    <p:sldId id="11231" r:id="rId25"/>
    <p:sldId id="11232" r:id="rId26"/>
    <p:sldId id="11233" r:id="rId27"/>
    <p:sldId id="11234" r:id="rId28"/>
    <p:sldId id="11255" r:id="rId29"/>
    <p:sldId id="9892" r:id="rId30"/>
    <p:sldId id="11235" r:id="rId31"/>
    <p:sldId id="11236" r:id="rId32"/>
    <p:sldId id="11238" r:id="rId33"/>
    <p:sldId id="11239" r:id="rId34"/>
    <p:sldId id="11240" r:id="rId35"/>
    <p:sldId id="11241" r:id="rId36"/>
    <p:sldId id="11242" r:id="rId37"/>
    <p:sldId id="11243" r:id="rId38"/>
    <p:sldId id="11244" r:id="rId39"/>
    <p:sldId id="11245" r:id="rId40"/>
    <p:sldId id="11246" r:id="rId41"/>
    <p:sldId id="11247" r:id="rId42"/>
    <p:sldId id="11248" r:id="rId43"/>
    <p:sldId id="11249" r:id="rId44"/>
    <p:sldId id="11250" r:id="rId45"/>
    <p:sldId id="11251" r:id="rId46"/>
    <p:sldId id="11252" r:id="rId47"/>
    <p:sldId id="11253" r:id="rId48"/>
    <p:sldId id="11254" r:id="rId49"/>
    <p:sldId id="11256" r:id="rId50"/>
  </p:sldIdLst>
  <p:sldSz cx="6858000" cy="9144000" type="screen4x3"/>
  <p:notesSz cx="10020300" cy="68881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pos="1344" userDrawn="1">
          <p15:clr>
            <a:srgbClr val="A4A3A4"/>
          </p15:clr>
        </p15:guide>
        <p15:guide id="7" pos="3022" userDrawn="1">
          <p15:clr>
            <a:srgbClr val="A4A3A4"/>
          </p15:clr>
        </p15:guide>
        <p15:guide id="8" orient="horz" pos="2472" userDrawn="1">
          <p15:clr>
            <a:srgbClr val="A4A3A4"/>
          </p15:clr>
        </p15:guide>
        <p15:guide id="9" orient="horz" pos="3583" userDrawn="1">
          <p15:clr>
            <a:srgbClr val="A4A3A4"/>
          </p15:clr>
        </p15:guide>
        <p15:guide id="10" orient="horz" pos="181" userDrawn="1">
          <p15:clr>
            <a:srgbClr val="A4A3A4"/>
          </p15:clr>
        </p15:guide>
        <p15:guide id="11" orient="horz" pos="4105" userDrawn="1">
          <p15:clr>
            <a:srgbClr val="A4A3A4"/>
          </p15:clr>
        </p15:guide>
        <p15:guide id="12" orient="horz" pos="2789" userDrawn="1">
          <p15:clr>
            <a:srgbClr val="A4A3A4"/>
          </p15:clr>
        </p15:guide>
        <p15:guide id="13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XACTA PESQUISA E CONSULTORIA" initials="EPE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746E"/>
    <a:srgbClr val="C07200"/>
    <a:srgbClr val="66CCFF"/>
    <a:srgbClr val="000099"/>
    <a:srgbClr val="6D4A03"/>
    <a:srgbClr val="F9F9F9"/>
    <a:srgbClr val="E3E2E7"/>
    <a:srgbClr val="B3C1D3"/>
    <a:srgbClr val="DA8200"/>
    <a:srgbClr val="D38F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06" autoAdjust="0"/>
    <p:restoredTop sz="91897" autoAdjust="0"/>
  </p:normalViewPr>
  <p:slideViewPr>
    <p:cSldViewPr snapToGrid="0">
      <p:cViewPr varScale="1">
        <p:scale>
          <a:sx n="52" d="100"/>
          <a:sy n="52" d="100"/>
        </p:scale>
        <p:origin x="1344" y="48"/>
      </p:cViewPr>
      <p:guideLst>
        <p:guide pos="1344"/>
        <p:guide pos="3022"/>
        <p:guide orient="horz" pos="2472"/>
        <p:guide orient="horz" pos="3583"/>
        <p:guide orient="horz" pos="181"/>
        <p:guide orient="horz" pos="4105"/>
        <p:guide orient="horz" pos="2789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hais\Documents\IPERO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Pasta1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Pasta1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3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hais\Documents\IPERO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4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5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6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7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8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9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0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1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2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3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4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5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6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7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8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9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0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1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2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3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4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448228356043534"/>
          <c:y val="0.13203155021627164"/>
          <c:w val="0.47613213707981311"/>
          <c:h val="0.6544254537228686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</c:plotArea>
    <c:legend>
      <c:legendPos val="t"/>
      <c:layout>
        <c:manualLayout>
          <c:xMode val="edge"/>
          <c:yMode val="edge"/>
          <c:x val="0.14594756504203338"/>
          <c:y val="0.88593349228604112"/>
          <c:w val="0.75654028789177663"/>
          <c:h val="9.2602650905268327E-2"/>
        </c:manualLayout>
      </c:layout>
      <c:overlay val="0"/>
    </c:legend>
    <c:plotVisOnly val="1"/>
    <c:dispBlanksAs val="zero"/>
    <c:showDLblsOverMax val="0"/>
  </c:chart>
  <c:txPr>
    <a:bodyPr/>
    <a:lstStyle/>
    <a:p>
      <a:pPr>
        <a:defRPr sz="1400"/>
      </a:pPr>
      <a:endParaRPr lang="pt-B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9732305336832898"/>
          <c:y val="0.20406350247885682"/>
          <c:w val="0.35813188976377952"/>
          <c:h val="0.59688648293963209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</c:plotArea>
    <c:legend>
      <c:legendPos val="t"/>
      <c:layout>
        <c:manualLayout>
          <c:xMode val="edge"/>
          <c:yMode val="edge"/>
          <c:x val="0.18040091863517074"/>
          <c:y val="0.91203703703703709"/>
          <c:w val="0.56142038495188107"/>
          <c:h val="8.3717191601050067E-2"/>
        </c:manualLayout>
      </c:layout>
      <c:overlay val="0"/>
      <c:txPr>
        <a:bodyPr/>
        <a:lstStyle/>
        <a:p>
          <a:pPr>
            <a:defRPr sz="1400"/>
          </a:pPr>
          <a:endParaRPr lang="pt-BR"/>
        </a:p>
      </c:txPr>
    </c:legend>
    <c:plotVisOnly val="1"/>
    <c:dispBlanksAs val="zero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909700764019198"/>
          <c:y val="4.4787245382572234E-2"/>
          <c:w val="0.45666391923726968"/>
          <c:h val="0.71541274516662345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</c:plotArea>
    <c:legend>
      <c:legendPos val="b"/>
      <c:layout>
        <c:manualLayout>
          <c:xMode val="edge"/>
          <c:yMode val="edge"/>
          <c:x val="0.22663486663276244"/>
          <c:y val="0.82715740958830863"/>
          <c:w val="0.55563871887952065"/>
          <c:h val="9.963037678141666E-2"/>
        </c:manualLayout>
      </c:layout>
      <c:overlay val="0"/>
      <c:txPr>
        <a:bodyPr/>
        <a:lstStyle/>
        <a:p>
          <a:pPr>
            <a:defRPr sz="1400"/>
          </a:pPr>
          <a:endParaRPr lang="pt-BR"/>
        </a:p>
      </c:txPr>
    </c:legend>
    <c:plotVisOnly val="1"/>
    <c:dispBlanksAs val="zero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779402700632631"/>
          <c:y val="5.3414412103086985E-2"/>
          <c:w val="0.52973117491975796"/>
          <c:h val="0.89317117579382765"/>
        </c:manualLayout>
      </c:layout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F5BD9"/>
            </a:solidFill>
          </c:spPr>
          <c:dPt>
            <c:idx val="0"/>
            <c:bubble3D val="0"/>
            <c:spPr>
              <a:solidFill>
                <a:srgbClr val="002060"/>
              </a:solidFill>
            </c:spPr>
            <c:extLst>
              <c:ext xmlns:c16="http://schemas.microsoft.com/office/drawing/2014/chart" uri="{C3380CC4-5D6E-409C-BE32-E72D297353CC}">
                <c16:uniqueId val="{00000001-B14E-4754-8AEB-E738DB8928EE}"/>
              </c:ext>
            </c:extLst>
          </c:dPt>
          <c:dPt>
            <c:idx val="1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B14E-4754-8AEB-E738DB8928EE}"/>
              </c:ext>
            </c:extLst>
          </c:dPt>
          <c:dLbls>
            <c:dLbl>
              <c:idx val="0"/>
              <c:layout>
                <c:manualLayout>
                  <c:x val="-3.1000790305447039E-2"/>
                  <c:y val="0.335930068725996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B14E-4754-8AEB-E738DB8928EE}"/>
                </c:ext>
              </c:extLst>
            </c:dLbl>
            <c:dLbl>
              <c:idx val="1"/>
              <c:layout>
                <c:manualLayout>
                  <c:x val="5.4930935881697916E-2"/>
                  <c:y val="0.4327045874025434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B14E-4754-8AEB-E738DB8928E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Plan1!$A$2:$A$2</c:f>
              <c:strCache>
                <c:ptCount val="1"/>
                <c:pt idx="0">
                  <c:v>Masculino</c:v>
                </c:pt>
              </c:strCache>
            </c:strRef>
          </c:cat>
          <c:val>
            <c:numRef>
              <c:f>Plan1!$B$2:$B$3</c:f>
              <c:numCache>
                <c:formatCode>0.0%</c:formatCode>
                <c:ptCount val="2"/>
                <c:pt idx="0">
                  <c:v>0.44750000000000001</c:v>
                </c:pt>
                <c:pt idx="1">
                  <c:v>0.55249999999999999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4E-4754-8AEB-E738DB8928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zero"/>
    <c:showDLblsOverMax val="0"/>
  </c:chart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232666294947684"/>
          <c:y val="6.3006231618484412E-2"/>
          <c:w val="0.55176480509296966"/>
          <c:h val="0.873987536763031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Coluna3</c:v>
                </c:pt>
              </c:strCache>
            </c:strRef>
          </c:tx>
          <c:spPr>
            <a:solidFill>
              <a:srgbClr val="002060">
                <a:alpha val="69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16 a 24 anos</c:v>
                </c:pt>
                <c:pt idx="1">
                  <c:v>25 a 34 anos</c:v>
                </c:pt>
                <c:pt idx="2">
                  <c:v>35 a 44 anos</c:v>
                </c:pt>
                <c:pt idx="3">
                  <c:v>45 a 59 anos</c:v>
                </c:pt>
                <c:pt idx="4">
                  <c:v>60 anos ou mais</c:v>
                </c:pt>
              </c:strCache>
            </c:strRef>
          </c:cat>
          <c:val>
            <c:numRef>
              <c:f>Plan1!$B$2:$B$6</c:f>
              <c:numCache>
                <c:formatCode>0.0%</c:formatCode>
                <c:ptCount val="5"/>
                <c:pt idx="0">
                  <c:v>0.16500000000000001</c:v>
                </c:pt>
                <c:pt idx="1">
                  <c:v>0.17499999999999999</c:v>
                </c:pt>
                <c:pt idx="2">
                  <c:v>0.29749999999999999</c:v>
                </c:pt>
                <c:pt idx="3">
                  <c:v>0.26750000000000002</c:v>
                </c:pt>
                <c:pt idx="4">
                  <c:v>9.5000000000000001E-2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0C-4B3B-9736-46EA1291D6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67083008"/>
        <c:axId val="167092992"/>
      </c:barChart>
      <c:catAx>
        <c:axId val="167083008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67092992"/>
        <c:crosses val="autoZero"/>
        <c:auto val="1"/>
        <c:lblAlgn val="ctr"/>
        <c:lblOffset val="100"/>
        <c:noMultiLvlLbl val="0"/>
      </c:catAx>
      <c:valAx>
        <c:axId val="167092992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6708300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232666294947684"/>
          <c:y val="6.3006231618484412E-2"/>
          <c:w val="0.55176480509296966"/>
          <c:h val="0.873987536763031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Coluna3</c:v>
                </c:pt>
              </c:strCache>
            </c:strRef>
          </c:tx>
          <c:spPr>
            <a:solidFill>
              <a:srgbClr val="002060">
                <a:alpha val="69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Plan1!$A$2:$A$5</c:f>
              <c:strCache>
                <c:ptCount val="4"/>
                <c:pt idx="0">
                  <c:v>Até 1 sal.mínimo</c:v>
                </c:pt>
                <c:pt idx="1">
                  <c:v>de 1 a 2 sal.mínimo</c:v>
                </c:pt>
                <c:pt idx="2">
                  <c:v>de 2 a 5 sal.mínimo</c:v>
                </c:pt>
                <c:pt idx="3">
                  <c:v>NS/NR</c:v>
                </c:pt>
              </c:strCache>
            </c:strRef>
          </c:cat>
          <c:val>
            <c:numRef>
              <c:f>Plan1!$B$2:$B$5</c:f>
              <c:numCache>
                <c:formatCode>0.0%</c:formatCode>
                <c:ptCount val="4"/>
                <c:pt idx="0">
                  <c:v>0.34</c:v>
                </c:pt>
                <c:pt idx="1">
                  <c:v>3.5000000000000003E-2</c:v>
                </c:pt>
                <c:pt idx="2">
                  <c:v>2.5000000000000001E-3</c:v>
                </c:pt>
                <c:pt idx="3">
                  <c:v>0.62250000000000005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0C-4B3B-9736-46EA1291D6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67162624"/>
        <c:axId val="167164160"/>
      </c:barChart>
      <c:catAx>
        <c:axId val="167162624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67164160"/>
        <c:crosses val="autoZero"/>
        <c:auto val="1"/>
        <c:lblAlgn val="ctr"/>
        <c:lblOffset val="100"/>
        <c:noMultiLvlLbl val="0"/>
      </c:catAx>
      <c:valAx>
        <c:axId val="167164160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6716262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232666294947684"/>
          <c:y val="6.3006231618484412E-2"/>
          <c:w val="0.55176480509296966"/>
          <c:h val="0.873987536763031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Coluna3</c:v>
                </c:pt>
              </c:strCache>
            </c:strRef>
          </c:tx>
          <c:spPr>
            <a:solidFill>
              <a:srgbClr val="002060">
                <a:alpha val="69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Analfabeto/Lê e escreve</c:v>
                </c:pt>
                <c:pt idx="1">
                  <c:v>Fundamental</c:v>
                </c:pt>
                <c:pt idx="2">
                  <c:v>Ensino Médio</c:v>
                </c:pt>
                <c:pt idx="3">
                  <c:v>Superior</c:v>
                </c:pt>
                <c:pt idx="4">
                  <c:v>NS/NR</c:v>
                </c:pt>
              </c:strCache>
            </c:strRef>
          </c:cat>
          <c:val>
            <c:numRef>
              <c:f>Plan1!$B$2:$B$6</c:f>
              <c:numCache>
                <c:formatCode>0.0%</c:formatCode>
                <c:ptCount val="5"/>
                <c:pt idx="0">
                  <c:v>0.13250000000000001</c:v>
                </c:pt>
                <c:pt idx="1">
                  <c:v>0.3175</c:v>
                </c:pt>
                <c:pt idx="2">
                  <c:v>0.44</c:v>
                </c:pt>
                <c:pt idx="3">
                  <c:v>5.2499999999999998E-2</c:v>
                </c:pt>
                <c:pt idx="4">
                  <c:v>5.7500000000000002E-2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D3-4BC3-A043-297CBBD8B0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73848832"/>
        <c:axId val="173850624"/>
      </c:barChart>
      <c:catAx>
        <c:axId val="17384883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73850624"/>
        <c:crosses val="autoZero"/>
        <c:auto val="1"/>
        <c:lblAlgn val="ctr"/>
        <c:lblOffset val="100"/>
        <c:noMultiLvlLbl val="0"/>
      </c:catAx>
      <c:valAx>
        <c:axId val="173850624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7384883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448228356043534"/>
          <c:y val="0.13203155021627164"/>
          <c:w val="0.47613213707981311"/>
          <c:h val="0.6544254537228686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</c:plotArea>
    <c:legend>
      <c:legendPos val="t"/>
      <c:layout>
        <c:manualLayout>
          <c:xMode val="edge"/>
          <c:yMode val="edge"/>
          <c:x val="0.14594756504203338"/>
          <c:y val="0.88593349228604112"/>
          <c:w val="0.75654028789177663"/>
          <c:h val="9.2602650905268327E-2"/>
        </c:manualLayout>
      </c:layout>
      <c:overlay val="0"/>
    </c:legend>
    <c:plotVisOnly val="1"/>
    <c:dispBlanksAs val="zero"/>
    <c:showDLblsOverMax val="0"/>
  </c:chart>
  <c:txPr>
    <a:bodyPr/>
    <a:lstStyle/>
    <a:p>
      <a:pPr>
        <a:defRPr sz="1400"/>
      </a:pPr>
      <a:endParaRPr lang="pt-B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232666294947684"/>
          <c:y val="6.3006231618484412E-2"/>
          <c:w val="0.55176480509296966"/>
          <c:h val="0.873987536763031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Coluna3</c:v>
                </c:pt>
              </c:strCache>
            </c:strRef>
          </c:tx>
          <c:spPr>
            <a:solidFill>
              <a:srgbClr val="002060">
                <a:alpha val="69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Plan1!$A$2:$A$4</c:f>
              <c:strCache>
                <c:ptCount val="3"/>
                <c:pt idx="0">
                  <c:v>Católica</c:v>
                </c:pt>
                <c:pt idx="1">
                  <c:v>Evangélica</c:v>
                </c:pt>
                <c:pt idx="2">
                  <c:v>NS/NR</c:v>
                </c:pt>
              </c:strCache>
            </c:strRef>
          </c:cat>
          <c:val>
            <c:numRef>
              <c:f>Plan1!$B$2:$B$4</c:f>
              <c:numCache>
                <c:formatCode>0.0%</c:formatCode>
                <c:ptCount val="3"/>
                <c:pt idx="0">
                  <c:v>0.65500000000000003</c:v>
                </c:pt>
                <c:pt idx="1">
                  <c:v>0.28499999999999998</c:v>
                </c:pt>
                <c:pt idx="2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D3-4BC3-A043-297CBBD8B0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73898752"/>
        <c:axId val="173937408"/>
      </c:barChart>
      <c:catAx>
        <c:axId val="1738987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73937408"/>
        <c:crosses val="autoZero"/>
        <c:auto val="1"/>
        <c:lblAlgn val="ctr"/>
        <c:lblOffset val="100"/>
        <c:noMultiLvlLbl val="0"/>
      </c:catAx>
      <c:valAx>
        <c:axId val="173937408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7389875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607017872765902"/>
          <c:y val="0"/>
          <c:w val="0.50312077595431348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B05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C51E-4343-920A-A5B59D9C73D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C51E-4343-920A-A5B59D9C73D6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C51E-4343-920A-A5B59D9C73D6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C51E-4343-920A-A5B59D9C73D6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E-C51E-4343-920A-A5B59D9C73D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Plan1!$A$2:$A$7</c:f>
              <c:strCache>
                <c:ptCount val="6"/>
                <c:pt idx="0">
                  <c:v>Ótima</c:v>
                </c:pt>
                <c:pt idx="1">
                  <c:v>Boa</c:v>
                </c:pt>
                <c:pt idx="2">
                  <c:v>Regular</c:v>
                </c:pt>
                <c:pt idx="3">
                  <c:v>Ruim</c:v>
                </c:pt>
                <c:pt idx="4">
                  <c:v>Péssima</c:v>
                </c:pt>
                <c:pt idx="5">
                  <c:v>Não Sabe</c:v>
                </c:pt>
              </c:strCache>
            </c:strRef>
          </c:cat>
          <c:val>
            <c:numRef>
              <c:f>Plan1!$B$2:$B$7</c:f>
              <c:numCache>
                <c:formatCode>0.0%</c:formatCode>
                <c:ptCount val="6"/>
                <c:pt idx="0">
                  <c:v>3.2500000000000001E-2</c:v>
                </c:pt>
                <c:pt idx="1">
                  <c:v>0.11749999999999999</c:v>
                </c:pt>
                <c:pt idx="2">
                  <c:v>0.33750000000000002</c:v>
                </c:pt>
                <c:pt idx="3">
                  <c:v>0.1075</c:v>
                </c:pt>
                <c:pt idx="4">
                  <c:v>0.35</c:v>
                </c:pt>
                <c:pt idx="5">
                  <c:v>5.5E-2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51E-4343-920A-A5B59D9C73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0707712"/>
        <c:axId val="180709248"/>
      </c:barChart>
      <c:catAx>
        <c:axId val="18070771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0709248"/>
        <c:crosses val="autoZero"/>
        <c:auto val="1"/>
        <c:lblAlgn val="ctr"/>
        <c:lblOffset val="100"/>
        <c:noMultiLvlLbl val="0"/>
      </c:catAx>
      <c:valAx>
        <c:axId val="180709248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070771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607017872765902"/>
          <c:y val="0"/>
          <c:w val="0.46917831535686882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C0000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3B4-4E12-8F96-F1D9D19F9B43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D3B4-4E12-8F96-F1D9D19F9B4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Plan1!$A$2:$A$4</c:f>
              <c:strCache>
                <c:ptCount val="3"/>
                <c:pt idx="0">
                  <c:v>Aprova</c:v>
                </c:pt>
                <c:pt idx="1">
                  <c:v>Reprova</c:v>
                </c:pt>
                <c:pt idx="2">
                  <c:v>Não quis opinar</c:v>
                </c:pt>
              </c:strCache>
            </c:strRef>
          </c:cat>
          <c:val>
            <c:numRef>
              <c:f>Plan1!$B$2:$B$4</c:f>
              <c:numCache>
                <c:formatCode>0.0%</c:formatCode>
                <c:ptCount val="3"/>
                <c:pt idx="0">
                  <c:v>0.24</c:v>
                </c:pt>
                <c:pt idx="1">
                  <c:v>0.505</c:v>
                </c:pt>
                <c:pt idx="2">
                  <c:v>0.255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3B4-4E12-8F96-F1D9D19F9B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0707712"/>
        <c:axId val="180709248"/>
      </c:barChart>
      <c:catAx>
        <c:axId val="18070771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0709248"/>
        <c:crosses val="autoZero"/>
        <c:auto val="1"/>
        <c:lblAlgn val="ctr"/>
        <c:lblOffset val="100"/>
        <c:noMultiLvlLbl val="0"/>
      </c:catAx>
      <c:valAx>
        <c:axId val="180709248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070771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607017872765902"/>
          <c:y val="0"/>
          <c:w val="0.5699816911117220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C0000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5045-4CB4-A90A-DB36C612006B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5045-4CB4-A90A-DB36C612006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Plan1!$A$2:$A$22</c:f>
              <c:strCache>
                <c:ptCount val="21"/>
                <c:pt idx="0">
                  <c:v>Estradas</c:v>
                </c:pt>
                <c:pt idx="1">
                  <c:v>Saúde</c:v>
                </c:pt>
                <c:pt idx="2">
                  <c:v>As ruas/ Asfalto</c:v>
                </c:pt>
                <c:pt idx="3">
                  <c:v>Infraestrutura</c:v>
                </c:pt>
                <c:pt idx="4">
                  <c:v>Tudo</c:v>
                </c:pt>
                <c:pt idx="5">
                  <c:v>Educação </c:v>
                </c:pt>
                <c:pt idx="6">
                  <c:v>Limpar o lixão para evitar o Protesto</c:v>
                </c:pt>
                <c:pt idx="7">
                  <c:v>Água </c:v>
                </c:pt>
                <c:pt idx="8">
                  <c:v>Saneamento básico </c:v>
                </c:pt>
                <c:pt idx="9">
                  <c:v>Segurança </c:v>
                </c:pt>
                <c:pt idx="10">
                  <c:v>Emprego </c:v>
                </c:pt>
                <c:pt idx="11">
                  <c:v>Pontes</c:v>
                </c:pt>
                <c:pt idx="12">
                  <c:v>praça</c:v>
                </c:pt>
                <c:pt idx="13">
                  <c:v>Construir o Carz </c:v>
                </c:pt>
                <c:pt idx="14">
                  <c:v>Bueiros no povoado</c:v>
                </c:pt>
                <c:pt idx="15">
                  <c:v>Projetos sociais</c:v>
                </c:pt>
                <c:pt idx="16">
                  <c:v>Atenção ao povo</c:v>
                </c:pt>
                <c:pt idx="17">
                  <c:v>Vigilância sanitária </c:v>
                </c:pt>
                <c:pt idx="18">
                  <c:v>Ônibus Escolar</c:v>
                </c:pt>
                <c:pt idx="19">
                  <c:v>Construir uma Praça </c:v>
                </c:pt>
                <c:pt idx="20">
                  <c:v>Má administração</c:v>
                </c:pt>
              </c:strCache>
            </c:strRef>
          </c:cat>
          <c:val>
            <c:numRef>
              <c:f>Plan1!$B$2:$B$22</c:f>
              <c:numCache>
                <c:formatCode>0.0%</c:formatCode>
                <c:ptCount val="21"/>
                <c:pt idx="0">
                  <c:v>0.33</c:v>
                </c:pt>
                <c:pt idx="1">
                  <c:v>0.24249999999999999</c:v>
                </c:pt>
                <c:pt idx="2">
                  <c:v>0.19500000000000001</c:v>
                </c:pt>
                <c:pt idx="3">
                  <c:v>6.25E-2</c:v>
                </c:pt>
                <c:pt idx="4">
                  <c:v>3.5000000000000003E-2</c:v>
                </c:pt>
                <c:pt idx="5">
                  <c:v>3.2500000000000001E-2</c:v>
                </c:pt>
                <c:pt idx="6">
                  <c:v>2.2499999999999999E-2</c:v>
                </c:pt>
                <c:pt idx="7">
                  <c:v>1.7500000000000002E-2</c:v>
                </c:pt>
                <c:pt idx="8">
                  <c:v>1.2500000000000001E-2</c:v>
                </c:pt>
                <c:pt idx="9">
                  <c:v>7.4999999999999997E-3</c:v>
                </c:pt>
                <c:pt idx="10">
                  <c:v>7.4999999999999997E-3</c:v>
                </c:pt>
                <c:pt idx="11">
                  <c:v>7.4999999999999997E-3</c:v>
                </c:pt>
                <c:pt idx="12">
                  <c:v>5.0000000000000001E-3</c:v>
                </c:pt>
                <c:pt idx="13">
                  <c:v>5.0000000000000001E-3</c:v>
                </c:pt>
                <c:pt idx="14">
                  <c:v>2.5000000000000001E-3</c:v>
                </c:pt>
                <c:pt idx="15">
                  <c:v>2.5000000000000001E-3</c:v>
                </c:pt>
                <c:pt idx="16">
                  <c:v>2.5000000000000001E-3</c:v>
                </c:pt>
                <c:pt idx="17">
                  <c:v>2.5000000000000001E-3</c:v>
                </c:pt>
                <c:pt idx="18">
                  <c:v>2.5000000000000001E-3</c:v>
                </c:pt>
                <c:pt idx="19">
                  <c:v>2.5000000000000001E-3</c:v>
                </c:pt>
                <c:pt idx="20">
                  <c:v>2.5000000000000001E-3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045-4CB4-A90A-DB36C61200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0707712"/>
        <c:axId val="180709248"/>
      </c:barChart>
      <c:catAx>
        <c:axId val="18070771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0709248"/>
        <c:crosses val="autoZero"/>
        <c:auto val="1"/>
        <c:lblAlgn val="ctr"/>
        <c:lblOffset val="100"/>
        <c:noMultiLvlLbl val="0"/>
      </c:catAx>
      <c:valAx>
        <c:axId val="180709248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070771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607017872765902"/>
          <c:y val="0"/>
          <c:w val="0.50312077595431348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C0000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C51E-4343-920A-A5B59D9C73D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C51E-4343-920A-A5B59D9C73D6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C51E-4343-920A-A5B59D9C73D6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C51E-4343-920A-A5B59D9C73D6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E-C51E-4343-920A-A5B59D9C73D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Plan1!$A$2:$A$4</c:f>
              <c:strCache>
                <c:ptCount val="3"/>
                <c:pt idx="0">
                  <c:v>Aprova</c:v>
                </c:pt>
                <c:pt idx="1">
                  <c:v>Reprova</c:v>
                </c:pt>
                <c:pt idx="2">
                  <c:v>Não quis opinar</c:v>
                </c:pt>
              </c:strCache>
            </c:strRef>
          </c:cat>
          <c:val>
            <c:numRef>
              <c:f>Plan1!$B$2:$B$4</c:f>
              <c:numCache>
                <c:formatCode>0.0%</c:formatCode>
                <c:ptCount val="3"/>
                <c:pt idx="0">
                  <c:v>0.495</c:v>
                </c:pt>
                <c:pt idx="1">
                  <c:v>0.24249999999999999</c:v>
                </c:pt>
                <c:pt idx="2">
                  <c:v>0.26250000000000001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51E-4343-920A-A5B59D9C73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0707712"/>
        <c:axId val="180709248"/>
      </c:barChart>
      <c:catAx>
        <c:axId val="18070771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0709248"/>
        <c:crosses val="autoZero"/>
        <c:auto val="1"/>
        <c:lblAlgn val="ctr"/>
        <c:lblOffset val="100"/>
        <c:noMultiLvlLbl val="0"/>
      </c:catAx>
      <c:valAx>
        <c:axId val="180709248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070771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607017872765902"/>
          <c:y val="0"/>
          <c:w val="0.46917831535686882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C0000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3B4-4E12-8F96-F1D9D19F9B43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D3B4-4E12-8F96-F1D9D19F9B4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Plan1!$A$2:$A$4</c:f>
              <c:strCache>
                <c:ptCount val="3"/>
                <c:pt idx="0">
                  <c:v>Aprova</c:v>
                </c:pt>
                <c:pt idx="1">
                  <c:v>Desaprova</c:v>
                </c:pt>
                <c:pt idx="2">
                  <c:v>Não quis opinar</c:v>
                </c:pt>
              </c:strCache>
            </c:strRef>
          </c:cat>
          <c:val>
            <c:numRef>
              <c:f>Plan1!$B$2:$B$4</c:f>
              <c:numCache>
                <c:formatCode>0.0%</c:formatCode>
                <c:ptCount val="3"/>
                <c:pt idx="0">
                  <c:v>0.71250000000000002</c:v>
                </c:pt>
                <c:pt idx="1">
                  <c:v>0.20499999999999999</c:v>
                </c:pt>
                <c:pt idx="2">
                  <c:v>8.2500000000000004E-2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3B4-4E12-8F96-F1D9D19F9B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0707712"/>
        <c:axId val="180709248"/>
      </c:barChart>
      <c:catAx>
        <c:axId val="18070771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0709248"/>
        <c:crosses val="autoZero"/>
        <c:auto val="1"/>
        <c:lblAlgn val="ctr"/>
        <c:lblOffset val="100"/>
        <c:noMultiLvlLbl val="0"/>
      </c:catAx>
      <c:valAx>
        <c:axId val="180709248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070771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408607527221749"/>
          <c:y val="1.3048491287332825E-2"/>
          <c:w val="0.5699816911117220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B05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589-4761-A79F-A46F45C042A9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589-4761-A79F-A46F45C042A9}"/>
              </c:ext>
            </c:extLst>
          </c:dPt>
          <c:dPt>
            <c:idx val="3"/>
            <c:invertIfNegative val="0"/>
            <c:bubble3D val="0"/>
            <c:spPr>
              <a:solidFill>
                <a:srgbClr val="FFFF0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589-4761-A79F-A46F45C042A9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6-4316-4930-AE63-9B885FC1AAF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Plan1!$A$2:$A$7</c:f>
              <c:strCache>
                <c:ptCount val="6"/>
                <c:pt idx="0">
                  <c:v>Não Sabe</c:v>
                </c:pt>
                <c:pt idx="1">
                  <c:v>Nenhum</c:v>
                </c:pt>
                <c:pt idx="2">
                  <c:v>Solange Almeida</c:v>
                </c:pt>
                <c:pt idx="3">
                  <c:v>Osmar Filho</c:v>
                </c:pt>
                <c:pt idx="4">
                  <c:v>Gledson Rezende</c:v>
                </c:pt>
                <c:pt idx="5">
                  <c:v>Claudio Cunha</c:v>
                </c:pt>
              </c:strCache>
            </c:strRef>
          </c:cat>
          <c:val>
            <c:numRef>
              <c:f>Plan1!$B$2:$B$7</c:f>
              <c:numCache>
                <c:formatCode>0.0%</c:formatCode>
                <c:ptCount val="6"/>
                <c:pt idx="0">
                  <c:v>0.61250000000000004</c:v>
                </c:pt>
                <c:pt idx="1">
                  <c:v>0.2475</c:v>
                </c:pt>
                <c:pt idx="2">
                  <c:v>4.4999999999999998E-2</c:v>
                </c:pt>
                <c:pt idx="3">
                  <c:v>3.5000000000000003E-2</c:v>
                </c:pt>
                <c:pt idx="4">
                  <c:v>3.5000000000000003E-2</c:v>
                </c:pt>
                <c:pt idx="5">
                  <c:v>2.5000000000000001E-2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2589-4761-A79F-A46F45C042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0638080"/>
        <c:axId val="180639616"/>
      </c:barChart>
      <c:catAx>
        <c:axId val="180638080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0639616"/>
        <c:crosses val="autoZero"/>
        <c:auto val="1"/>
        <c:lblAlgn val="ctr"/>
        <c:lblOffset val="100"/>
        <c:noMultiLvlLbl val="0"/>
      </c:catAx>
      <c:valAx>
        <c:axId val="180639616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063808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408607527221749"/>
          <c:y val="1.3048491287332825E-2"/>
          <c:w val="0.5699816911117220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B05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589-4761-A79F-A46F45C042A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589-4761-A79F-A46F45C042A9}"/>
              </c:ext>
            </c:extLst>
          </c:dPt>
          <c:dPt>
            <c:idx val="3"/>
            <c:invertIfNegative val="0"/>
            <c:bubble3D val="0"/>
            <c:spPr>
              <a:solidFill>
                <a:srgbClr val="C0000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589-4761-A79F-A46F45C042A9}"/>
              </c:ext>
            </c:extLst>
          </c:dPt>
          <c:dPt>
            <c:idx val="4"/>
            <c:invertIfNegative val="0"/>
            <c:bubble3D val="0"/>
            <c:spPr>
              <a:solidFill>
                <a:srgbClr val="FFFF0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6-B6F8-4400-A0C3-7E3837B7369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Plan1!$A$2:$A$7</c:f>
              <c:strCache>
                <c:ptCount val="6"/>
                <c:pt idx="0">
                  <c:v>Solange Almeida</c:v>
                </c:pt>
                <c:pt idx="1">
                  <c:v>Nenhum</c:v>
                </c:pt>
                <c:pt idx="2">
                  <c:v>Não Sabe</c:v>
                </c:pt>
                <c:pt idx="3">
                  <c:v>Claudio Cunha (Candidato de Mariana)</c:v>
                </c:pt>
                <c:pt idx="4">
                  <c:v>Osmar Filho</c:v>
                </c:pt>
                <c:pt idx="5">
                  <c:v>Gledson Rezende (Candidato do Prefeito)</c:v>
                </c:pt>
              </c:strCache>
            </c:strRef>
          </c:cat>
          <c:val>
            <c:numRef>
              <c:f>Plan1!$B$2:$B$7</c:f>
              <c:numCache>
                <c:formatCode>0.0%</c:formatCode>
                <c:ptCount val="6"/>
                <c:pt idx="0">
                  <c:v>0.26250000000000001</c:v>
                </c:pt>
                <c:pt idx="1">
                  <c:v>0.19750000000000001</c:v>
                </c:pt>
                <c:pt idx="2">
                  <c:v>0.1575</c:v>
                </c:pt>
                <c:pt idx="3">
                  <c:v>0.155</c:v>
                </c:pt>
                <c:pt idx="4">
                  <c:v>0.13</c:v>
                </c:pt>
                <c:pt idx="5">
                  <c:v>9.7500000000000003E-2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2589-4761-A79F-A46F45C042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0638080"/>
        <c:axId val="180639616"/>
      </c:barChart>
      <c:catAx>
        <c:axId val="180638080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0639616"/>
        <c:crosses val="autoZero"/>
        <c:auto val="1"/>
        <c:lblAlgn val="ctr"/>
        <c:lblOffset val="100"/>
        <c:noMultiLvlLbl val="0"/>
      </c:catAx>
      <c:valAx>
        <c:axId val="180639616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063808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408607527221749"/>
          <c:y val="1.3048491287332825E-2"/>
          <c:w val="0.5699816911117220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B05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589-4761-A79F-A46F45C042A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589-4761-A79F-A46F45C042A9}"/>
              </c:ext>
            </c:extLst>
          </c:dPt>
          <c:dPt>
            <c:idx val="3"/>
            <c:invertIfNegative val="0"/>
            <c:bubble3D val="0"/>
            <c:spPr>
              <a:solidFill>
                <a:srgbClr val="C0000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589-4761-A79F-A46F45C042A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Plan1!$A$2:$A$10</c:f>
              <c:strCache>
                <c:ptCount val="9"/>
                <c:pt idx="0">
                  <c:v>Não Sabe</c:v>
                </c:pt>
                <c:pt idx="1">
                  <c:v>Nenhum </c:v>
                </c:pt>
                <c:pt idx="2">
                  <c:v>Pedro Lucas </c:v>
                </c:pt>
                <c:pt idx="3">
                  <c:v>Aluízio Mendes </c:v>
                </c:pt>
                <c:pt idx="4">
                  <c:v>Candidato de Mariana</c:v>
                </c:pt>
                <c:pt idx="5">
                  <c:v>Duarte Jr</c:v>
                </c:pt>
                <c:pt idx="6">
                  <c:v>Fabiana Vilar</c:v>
                </c:pt>
                <c:pt idx="7">
                  <c:v>Marreca Filho</c:v>
                </c:pt>
                <c:pt idx="8">
                  <c:v>Júnior Lourenço</c:v>
                </c:pt>
              </c:strCache>
            </c:strRef>
          </c:cat>
          <c:val>
            <c:numRef>
              <c:f>Plan1!$B$2:$B$10</c:f>
              <c:numCache>
                <c:formatCode>0.0%</c:formatCode>
                <c:ptCount val="9"/>
                <c:pt idx="0">
                  <c:v>0.66749999999999998</c:v>
                </c:pt>
                <c:pt idx="1">
                  <c:v>0.27500000000000002</c:v>
                </c:pt>
                <c:pt idx="2">
                  <c:v>3.2500000000000001E-2</c:v>
                </c:pt>
                <c:pt idx="3">
                  <c:v>5.0000000000000001E-3</c:v>
                </c:pt>
                <c:pt idx="4">
                  <c:v>5.0000000000000001E-3</c:v>
                </c:pt>
                <c:pt idx="5">
                  <c:v>5.0000000000000001E-3</c:v>
                </c:pt>
                <c:pt idx="6">
                  <c:v>5.0000000000000001E-3</c:v>
                </c:pt>
                <c:pt idx="7">
                  <c:v>2.5000000000000001E-3</c:v>
                </c:pt>
                <c:pt idx="8">
                  <c:v>2.5000000000000001E-3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2589-4761-A79F-A46F45C042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0346240"/>
        <c:axId val="180356224"/>
      </c:barChart>
      <c:catAx>
        <c:axId val="180346240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0356224"/>
        <c:crosses val="autoZero"/>
        <c:auto val="1"/>
        <c:lblAlgn val="ctr"/>
        <c:lblOffset val="100"/>
        <c:noMultiLvlLbl val="0"/>
      </c:catAx>
      <c:valAx>
        <c:axId val="180356224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034624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408607527221749"/>
          <c:y val="1.3048491287332825E-2"/>
          <c:w val="0.5699816911117220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B05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589-4761-A79F-A46F45C042A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589-4761-A79F-A46F45C042A9}"/>
              </c:ext>
            </c:extLst>
          </c:dPt>
          <c:dPt>
            <c:idx val="3"/>
            <c:invertIfNegative val="0"/>
            <c:bubble3D val="0"/>
            <c:spPr>
              <a:solidFill>
                <a:srgbClr val="C0000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589-4761-A79F-A46F45C042A9}"/>
              </c:ext>
            </c:extLst>
          </c:dPt>
          <c:dPt>
            <c:idx val="4"/>
            <c:invertIfNegative val="0"/>
            <c:bubble3D val="0"/>
            <c:spPr>
              <a:solidFill>
                <a:srgbClr val="FFFF0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A-02E8-4783-93B3-A3DD2DFAE4FD}"/>
              </c:ext>
            </c:extLst>
          </c:dPt>
          <c:dPt>
            <c:idx val="5"/>
            <c:invertIfNegative val="0"/>
            <c:bubble3D val="0"/>
            <c:spPr>
              <a:solidFill>
                <a:srgbClr val="00B0F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02E8-4783-93B3-A3DD2DFAE4F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Plan1!$A$2:$A$7</c:f>
              <c:strCache>
                <c:ptCount val="6"/>
                <c:pt idx="0">
                  <c:v>Nenhum</c:v>
                </c:pt>
                <c:pt idx="1">
                  <c:v>Candidato de Mariana</c:v>
                </c:pt>
                <c:pt idx="2">
                  <c:v>Pedro Lucas (Candidato do Prefeito)</c:v>
                </c:pt>
                <c:pt idx="3">
                  <c:v>Não Sabe</c:v>
                </c:pt>
                <c:pt idx="4">
                  <c:v>Fabiana Vilar (Candidato Grupo Almeida)</c:v>
                </c:pt>
                <c:pt idx="5">
                  <c:v>Junior Lourenço (Candidato de Camila)</c:v>
                </c:pt>
              </c:strCache>
            </c:strRef>
          </c:cat>
          <c:val>
            <c:numRef>
              <c:f>Plan1!$B$2:$B$7</c:f>
              <c:numCache>
                <c:formatCode>0.0%</c:formatCode>
                <c:ptCount val="6"/>
                <c:pt idx="0">
                  <c:v>0.255</c:v>
                </c:pt>
                <c:pt idx="1">
                  <c:v>0.21249999999999999</c:v>
                </c:pt>
                <c:pt idx="2">
                  <c:v>0.20749999999999999</c:v>
                </c:pt>
                <c:pt idx="3">
                  <c:v>0.14000000000000001</c:v>
                </c:pt>
                <c:pt idx="4">
                  <c:v>0.1225</c:v>
                </c:pt>
                <c:pt idx="5">
                  <c:v>6.25E-2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2589-4761-A79F-A46F45C042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0638080"/>
        <c:axId val="180639616"/>
      </c:barChart>
      <c:catAx>
        <c:axId val="180638080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0639616"/>
        <c:crosses val="autoZero"/>
        <c:auto val="1"/>
        <c:lblAlgn val="ctr"/>
        <c:lblOffset val="100"/>
        <c:noMultiLvlLbl val="0"/>
      </c:catAx>
      <c:valAx>
        <c:axId val="180639616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063808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408607527221749"/>
          <c:y val="1.3048491287332825E-2"/>
          <c:w val="0.5699816911117220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B05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589-4761-A79F-A46F45C042A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589-4761-A79F-A46F45C042A9}"/>
              </c:ext>
            </c:extLst>
          </c:dPt>
          <c:dPt>
            <c:idx val="3"/>
            <c:invertIfNegative val="0"/>
            <c:bubble3D val="0"/>
            <c:spPr>
              <a:solidFill>
                <a:srgbClr val="C0000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589-4761-A79F-A46F45C042A9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50000"/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2589-4761-A79F-A46F45C042A9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2589-4761-A79F-A46F45C042A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Plan1!$A$2:$A$7</c:f>
              <c:strCache>
                <c:ptCount val="6"/>
                <c:pt idx="0">
                  <c:v>Eduardo Braide</c:v>
                </c:pt>
                <c:pt idx="1">
                  <c:v>Orleans Brandão</c:v>
                </c:pt>
                <c:pt idx="2">
                  <c:v>Nenhum</c:v>
                </c:pt>
                <c:pt idx="3">
                  <c:v>Não Sabe</c:v>
                </c:pt>
                <c:pt idx="4">
                  <c:v>Felipe Camarão</c:v>
                </c:pt>
                <c:pt idx="5">
                  <c:v>Lahesio Bomfim</c:v>
                </c:pt>
              </c:strCache>
            </c:strRef>
          </c:cat>
          <c:val>
            <c:numRef>
              <c:f>Plan1!$B$2:$B$7</c:f>
              <c:numCache>
                <c:formatCode>0.0%</c:formatCode>
                <c:ptCount val="6"/>
                <c:pt idx="0">
                  <c:v>0.36499999999999999</c:v>
                </c:pt>
                <c:pt idx="1">
                  <c:v>0.27500000000000002</c:v>
                </c:pt>
                <c:pt idx="2">
                  <c:v>0.14000000000000001</c:v>
                </c:pt>
                <c:pt idx="3">
                  <c:v>0.1275</c:v>
                </c:pt>
                <c:pt idx="4">
                  <c:v>0.05</c:v>
                </c:pt>
                <c:pt idx="5">
                  <c:v>4.2500000000000003E-2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2589-4761-A79F-A46F45C042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0753920"/>
        <c:axId val="180755456"/>
      </c:barChart>
      <c:catAx>
        <c:axId val="180753920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0755456"/>
        <c:crosses val="autoZero"/>
        <c:auto val="1"/>
        <c:lblAlgn val="ctr"/>
        <c:lblOffset val="100"/>
        <c:noMultiLvlLbl val="0"/>
      </c:catAx>
      <c:valAx>
        <c:axId val="180755456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075392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408607527221749"/>
          <c:y val="1.3048491287332825E-2"/>
          <c:w val="0.5699816911117220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3">
                  <a:lumMod val="75000"/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E-A9E0-4514-AC17-481910E0E57D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589-4761-A79F-A46F45C042A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589-4761-A79F-A46F45C042A9}"/>
              </c:ext>
            </c:extLst>
          </c:dPt>
          <c:dPt>
            <c:idx val="3"/>
            <c:invertIfNegative val="0"/>
            <c:bubble3D val="0"/>
            <c:spPr>
              <a:solidFill>
                <a:srgbClr val="FFFF0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589-4761-A79F-A46F45C042A9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85000"/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2589-4761-A79F-A46F45C042A9}"/>
              </c:ext>
            </c:extLst>
          </c:dPt>
          <c:dPt>
            <c:idx val="5"/>
            <c:invertIfNegative val="0"/>
            <c:bubble3D val="0"/>
            <c:spPr>
              <a:solidFill>
                <a:srgbClr val="00B0F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2589-4761-A79F-A46F45C042A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Plan1!$A$2:$A$9</c:f>
              <c:strCache>
                <c:ptCount val="8"/>
                <c:pt idx="0">
                  <c:v>Nenhum</c:v>
                </c:pt>
                <c:pt idx="1">
                  <c:v>Não Sabe</c:v>
                </c:pt>
                <c:pt idx="2">
                  <c:v>Roseana Sarney</c:v>
                </c:pt>
                <c:pt idx="3">
                  <c:v>Weverton Rocha</c:v>
                </c:pt>
                <c:pt idx="4">
                  <c:v>Eliziane Gama</c:v>
                </c:pt>
                <c:pt idx="5">
                  <c:v>Roberto Rocha</c:v>
                </c:pt>
                <c:pt idx="6">
                  <c:v>André Fufuca</c:v>
                </c:pt>
                <c:pt idx="7">
                  <c:v>Dr. Hilton Gonçalo</c:v>
                </c:pt>
              </c:strCache>
            </c:strRef>
          </c:cat>
          <c:val>
            <c:numRef>
              <c:f>Plan1!$B$2:$B$9</c:f>
              <c:numCache>
                <c:formatCode>0.0%</c:formatCode>
                <c:ptCount val="8"/>
                <c:pt idx="0">
                  <c:v>0.33250000000000002</c:v>
                </c:pt>
                <c:pt idx="1">
                  <c:v>0.21249999999999999</c:v>
                </c:pt>
                <c:pt idx="2">
                  <c:v>0.1225</c:v>
                </c:pt>
                <c:pt idx="3">
                  <c:v>0.11749999999999999</c:v>
                </c:pt>
                <c:pt idx="4">
                  <c:v>8.5000000000000006E-2</c:v>
                </c:pt>
                <c:pt idx="5">
                  <c:v>6.25E-2</c:v>
                </c:pt>
                <c:pt idx="6">
                  <c:v>5.2499999999999998E-2</c:v>
                </c:pt>
                <c:pt idx="7">
                  <c:v>1.4999999999999999E-2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2589-4761-A79F-A46F45C042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3174656"/>
        <c:axId val="183176192"/>
      </c:barChart>
      <c:catAx>
        <c:axId val="18317465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3176192"/>
        <c:crosses val="autoZero"/>
        <c:auto val="1"/>
        <c:lblAlgn val="ctr"/>
        <c:lblOffset val="100"/>
        <c:noMultiLvlLbl val="0"/>
      </c:catAx>
      <c:valAx>
        <c:axId val="183176192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317465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408607527221749"/>
          <c:y val="1.3048491287332825E-2"/>
          <c:w val="0.5699816911117220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3">
                  <a:lumMod val="75000"/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E-A9E0-4514-AC17-481910E0E57D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589-4761-A79F-A46F45C042A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589-4761-A79F-A46F45C042A9}"/>
              </c:ext>
            </c:extLst>
          </c:dPt>
          <c:dPt>
            <c:idx val="3"/>
            <c:invertIfNegative val="0"/>
            <c:bubble3D val="0"/>
            <c:spPr>
              <a:solidFill>
                <a:srgbClr val="FFFF0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589-4761-A79F-A46F45C042A9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85000"/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2589-4761-A79F-A46F45C042A9}"/>
              </c:ext>
            </c:extLst>
          </c:dPt>
          <c:dPt>
            <c:idx val="5"/>
            <c:invertIfNegative val="0"/>
            <c:bubble3D val="0"/>
            <c:spPr>
              <a:solidFill>
                <a:srgbClr val="00B0F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2589-4761-A79F-A46F45C042A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Plan1!$A$2:$A$8</c:f>
              <c:strCache>
                <c:ptCount val="7"/>
                <c:pt idx="0">
                  <c:v>Lula</c:v>
                </c:pt>
                <c:pt idx="1">
                  <c:v>Flávio Bolsonaro</c:v>
                </c:pt>
                <c:pt idx="2">
                  <c:v>Nenhum</c:v>
                </c:pt>
                <c:pt idx="3">
                  <c:v>Não Sabe</c:v>
                </c:pt>
                <c:pt idx="4">
                  <c:v>Ronaldo Caiado</c:v>
                </c:pt>
                <c:pt idx="5">
                  <c:v>Augusro Cury</c:v>
                </c:pt>
                <c:pt idx="6">
                  <c:v>Renan Santos</c:v>
                </c:pt>
              </c:strCache>
            </c:strRef>
          </c:cat>
          <c:val>
            <c:numRef>
              <c:f>Plan1!$B$2:$B$8</c:f>
              <c:numCache>
                <c:formatCode>0.0%</c:formatCode>
                <c:ptCount val="7"/>
                <c:pt idx="0">
                  <c:v>0.74</c:v>
                </c:pt>
                <c:pt idx="1">
                  <c:v>0.13500000000000001</c:v>
                </c:pt>
                <c:pt idx="2">
                  <c:v>6.25E-2</c:v>
                </c:pt>
                <c:pt idx="3">
                  <c:v>4.7500000000000001E-2</c:v>
                </c:pt>
                <c:pt idx="4">
                  <c:v>0.01</c:v>
                </c:pt>
                <c:pt idx="5">
                  <c:v>2.5000000000000001E-3</c:v>
                </c:pt>
                <c:pt idx="6">
                  <c:v>2.5000000000000001E-3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2589-4761-A79F-A46F45C042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3174656"/>
        <c:axId val="183176192"/>
      </c:barChart>
      <c:catAx>
        <c:axId val="18317465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3176192"/>
        <c:crosses val="autoZero"/>
        <c:auto val="1"/>
        <c:lblAlgn val="ctr"/>
        <c:lblOffset val="100"/>
        <c:noMultiLvlLbl val="0"/>
      </c:catAx>
      <c:valAx>
        <c:axId val="183176192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317465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408607527221749"/>
          <c:y val="1.3048491287332825E-2"/>
          <c:w val="0.5699816911117220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B05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589-4761-A79F-A46F45C042A9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589-4761-A79F-A46F45C042A9}"/>
              </c:ext>
            </c:extLst>
          </c:dPt>
          <c:dPt>
            <c:idx val="3"/>
            <c:invertIfNegative val="0"/>
            <c:bubble3D val="0"/>
            <c:spPr>
              <a:solidFill>
                <a:srgbClr val="FFFF0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589-4761-A79F-A46F45C042A9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6-4316-4930-AE63-9B885FC1AAF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Plan1!$A$2:$A$10</c:f>
              <c:strCache>
                <c:ptCount val="9"/>
                <c:pt idx="0">
                  <c:v>Não Sabe</c:v>
                </c:pt>
                <c:pt idx="1">
                  <c:v>Nenhum</c:v>
                </c:pt>
                <c:pt idx="2">
                  <c:v>Mariana</c:v>
                </c:pt>
                <c:pt idx="3">
                  <c:v>Dr. Joel</c:v>
                </c:pt>
                <c:pt idx="4">
                  <c:v>Constâncio</c:v>
                </c:pt>
                <c:pt idx="5">
                  <c:v>Candidato do prefeito</c:v>
                </c:pt>
                <c:pt idx="6">
                  <c:v>Almeida Souza</c:v>
                </c:pt>
                <c:pt idx="7">
                  <c:v>Camila</c:v>
                </c:pt>
                <c:pt idx="8">
                  <c:v>Lídia</c:v>
                </c:pt>
              </c:strCache>
            </c:strRef>
          </c:cat>
          <c:val>
            <c:numRef>
              <c:f>Plan1!$B$2:$B$10</c:f>
              <c:numCache>
                <c:formatCode>0.0%</c:formatCode>
                <c:ptCount val="9"/>
                <c:pt idx="0">
                  <c:v>0.64249999999999996</c:v>
                </c:pt>
                <c:pt idx="1">
                  <c:v>0.2525</c:v>
                </c:pt>
                <c:pt idx="2">
                  <c:v>0.04</c:v>
                </c:pt>
                <c:pt idx="3">
                  <c:v>1.7500000000000002E-2</c:v>
                </c:pt>
                <c:pt idx="4">
                  <c:v>1.4999999999999999E-2</c:v>
                </c:pt>
                <c:pt idx="5">
                  <c:v>1.2500000000000001E-2</c:v>
                </c:pt>
                <c:pt idx="6">
                  <c:v>7.4999999999999997E-3</c:v>
                </c:pt>
                <c:pt idx="7">
                  <c:v>7.4999999999999997E-3</c:v>
                </c:pt>
                <c:pt idx="8">
                  <c:v>5.0000000000000001E-3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2589-4761-A79F-A46F45C042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0638080"/>
        <c:axId val="180639616"/>
      </c:barChart>
      <c:catAx>
        <c:axId val="180638080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0639616"/>
        <c:crosses val="autoZero"/>
        <c:auto val="1"/>
        <c:lblAlgn val="ctr"/>
        <c:lblOffset val="100"/>
        <c:noMultiLvlLbl val="0"/>
      </c:catAx>
      <c:valAx>
        <c:axId val="180639616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063808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408607527221749"/>
          <c:y val="1.3048491287332825E-2"/>
          <c:w val="0.5699816911117220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B05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589-4761-A79F-A46F45C042A9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589-4761-A79F-A46F45C042A9}"/>
              </c:ext>
            </c:extLst>
          </c:dPt>
          <c:dPt>
            <c:idx val="3"/>
            <c:invertIfNegative val="0"/>
            <c:bubble3D val="0"/>
            <c:spPr>
              <a:solidFill>
                <a:srgbClr val="FFFF0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589-4761-A79F-A46F45C042A9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6-4316-4930-AE63-9B885FC1AAF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Plan1!$A$2:$A$7</c:f>
              <c:strCache>
                <c:ptCount val="6"/>
                <c:pt idx="0">
                  <c:v>Mariana</c:v>
                </c:pt>
                <c:pt idx="1">
                  <c:v>Almeida Souza</c:v>
                </c:pt>
                <c:pt idx="2">
                  <c:v>Dr. Joel</c:v>
                </c:pt>
                <c:pt idx="3">
                  <c:v>Candidato do Prefeito</c:v>
                </c:pt>
                <c:pt idx="4">
                  <c:v>Não Sabe</c:v>
                </c:pt>
                <c:pt idx="5">
                  <c:v>Nenhum</c:v>
                </c:pt>
              </c:strCache>
            </c:strRef>
          </c:cat>
          <c:val>
            <c:numRef>
              <c:f>Plan1!$B$2:$B$7</c:f>
              <c:numCache>
                <c:formatCode>0.0%</c:formatCode>
                <c:ptCount val="6"/>
                <c:pt idx="0">
                  <c:v>0.28499999999999998</c:v>
                </c:pt>
                <c:pt idx="1">
                  <c:v>0.1875</c:v>
                </c:pt>
                <c:pt idx="2">
                  <c:v>0.1575</c:v>
                </c:pt>
                <c:pt idx="3">
                  <c:v>0.13750000000000001</c:v>
                </c:pt>
                <c:pt idx="4">
                  <c:v>0.13</c:v>
                </c:pt>
                <c:pt idx="5">
                  <c:v>0.10249999999999999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2589-4761-A79F-A46F45C042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0638080"/>
        <c:axId val="180639616"/>
      </c:barChart>
      <c:catAx>
        <c:axId val="180638080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0639616"/>
        <c:crosses val="autoZero"/>
        <c:auto val="1"/>
        <c:lblAlgn val="ctr"/>
        <c:lblOffset val="100"/>
        <c:noMultiLvlLbl val="0"/>
      </c:catAx>
      <c:valAx>
        <c:axId val="180639616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063808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408607527221749"/>
          <c:y val="1.3048491287332825E-2"/>
          <c:w val="0.5699816911117220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B05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589-4761-A79F-A46F45C042A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589-4761-A79F-A46F45C042A9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589-4761-A79F-A46F45C042A9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6-4316-4930-AE63-9B885FC1AAF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Plan1!$A$2:$A$5</c:f>
              <c:strCache>
                <c:ptCount val="4"/>
                <c:pt idx="0">
                  <c:v>Almeida Souza</c:v>
                </c:pt>
                <c:pt idx="1">
                  <c:v>Dr. Joel</c:v>
                </c:pt>
                <c:pt idx="2">
                  <c:v>Não Sabe</c:v>
                </c:pt>
                <c:pt idx="3">
                  <c:v>Nenhum</c:v>
                </c:pt>
              </c:strCache>
            </c:strRef>
          </c:cat>
          <c:val>
            <c:numRef>
              <c:f>Plan1!$B$2:$B$5</c:f>
              <c:numCache>
                <c:formatCode>0.0%</c:formatCode>
                <c:ptCount val="4"/>
                <c:pt idx="0">
                  <c:v>0.25</c:v>
                </c:pt>
                <c:pt idx="1">
                  <c:v>0.245</c:v>
                </c:pt>
                <c:pt idx="2">
                  <c:v>0.15</c:v>
                </c:pt>
                <c:pt idx="3">
                  <c:v>0.35499999999999998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2589-4761-A79F-A46F45C042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0638080"/>
        <c:axId val="180639616"/>
      </c:barChart>
      <c:catAx>
        <c:axId val="180638080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0639616"/>
        <c:crosses val="autoZero"/>
        <c:auto val="1"/>
        <c:lblAlgn val="ctr"/>
        <c:lblOffset val="100"/>
        <c:noMultiLvlLbl val="0"/>
      </c:catAx>
      <c:valAx>
        <c:axId val="180639616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063808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408607527221749"/>
          <c:y val="1.3048491287332825E-2"/>
          <c:w val="0.5699816911117220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B05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4EA-4FA9-80E8-2505E90505D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4EA-4FA9-80E8-2505E90505D9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4EA-4FA9-80E8-2505E90505D9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24EA-4FA9-80E8-2505E90505D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Plan1!$A$2:$A$5</c:f>
              <c:strCache>
                <c:ptCount val="4"/>
                <c:pt idx="0">
                  <c:v>Almeida Souza</c:v>
                </c:pt>
                <c:pt idx="1">
                  <c:v>Candidato do prefeito</c:v>
                </c:pt>
                <c:pt idx="2">
                  <c:v>Não Sabe</c:v>
                </c:pt>
                <c:pt idx="3">
                  <c:v>Nenhum</c:v>
                </c:pt>
              </c:strCache>
            </c:strRef>
          </c:cat>
          <c:val>
            <c:numRef>
              <c:f>Plan1!$B$2:$B$5</c:f>
              <c:numCache>
                <c:formatCode>0.0%</c:formatCode>
                <c:ptCount val="4"/>
                <c:pt idx="0">
                  <c:v>0.31</c:v>
                </c:pt>
                <c:pt idx="1">
                  <c:v>0.17749999999999999</c:v>
                </c:pt>
                <c:pt idx="2">
                  <c:v>0.14499999999999999</c:v>
                </c:pt>
                <c:pt idx="3">
                  <c:v>0.36749999999999999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4EA-4FA9-80E8-2505E90505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0638080"/>
        <c:axId val="180639616"/>
      </c:barChart>
      <c:catAx>
        <c:axId val="180638080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0639616"/>
        <c:crosses val="autoZero"/>
        <c:auto val="1"/>
        <c:lblAlgn val="ctr"/>
        <c:lblOffset val="100"/>
        <c:noMultiLvlLbl val="0"/>
      </c:catAx>
      <c:valAx>
        <c:axId val="180639616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063808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408607527221749"/>
          <c:y val="1.3048491287332825E-2"/>
          <c:w val="0.5699816911117220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B05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CCA-48B9-A998-732B6E28B79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CCA-48B9-A998-732B6E28B799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CCA-48B9-A998-732B6E28B799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CCA-48B9-A998-732B6E28B79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Plan1!$A$2:$A$5</c:f>
              <c:strCache>
                <c:ptCount val="4"/>
                <c:pt idx="0">
                  <c:v>Mariana</c:v>
                </c:pt>
                <c:pt idx="1">
                  <c:v>Almeida Souza</c:v>
                </c:pt>
                <c:pt idx="2">
                  <c:v>Não Sabe</c:v>
                </c:pt>
                <c:pt idx="3">
                  <c:v>Nenhum</c:v>
                </c:pt>
              </c:strCache>
            </c:strRef>
          </c:cat>
          <c:val>
            <c:numRef>
              <c:f>Plan1!$B$2:$B$5</c:f>
              <c:numCache>
                <c:formatCode>0.0%</c:formatCode>
                <c:ptCount val="4"/>
                <c:pt idx="0">
                  <c:v>0.35499999999999998</c:v>
                </c:pt>
                <c:pt idx="1">
                  <c:v>0.2475</c:v>
                </c:pt>
                <c:pt idx="2">
                  <c:v>0.13250000000000001</c:v>
                </c:pt>
                <c:pt idx="3">
                  <c:v>0.26500000000000001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CCA-48B9-A998-732B6E28B7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0638080"/>
        <c:axId val="180639616"/>
      </c:barChart>
      <c:catAx>
        <c:axId val="180638080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0639616"/>
        <c:crosses val="autoZero"/>
        <c:auto val="1"/>
        <c:lblAlgn val="ctr"/>
        <c:lblOffset val="100"/>
        <c:noMultiLvlLbl val="0"/>
      </c:catAx>
      <c:valAx>
        <c:axId val="180639616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063808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408607527221749"/>
          <c:y val="1.3048491287332825E-2"/>
          <c:w val="0.5699816911117220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B05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9D9D-4386-A16D-17E4C68E763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9D9D-4386-A16D-17E4C68E763A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9D9D-4386-A16D-17E4C68E763A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9D9D-4386-A16D-17E4C68E76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Plan1!$A$2:$A$5</c:f>
              <c:strCache>
                <c:ptCount val="4"/>
                <c:pt idx="0">
                  <c:v>Mariana</c:v>
                </c:pt>
                <c:pt idx="1">
                  <c:v>Candidato do prefeito</c:v>
                </c:pt>
                <c:pt idx="2">
                  <c:v>Não Sabe</c:v>
                </c:pt>
                <c:pt idx="3">
                  <c:v>Nenhum</c:v>
                </c:pt>
              </c:strCache>
            </c:strRef>
          </c:cat>
          <c:val>
            <c:numRef>
              <c:f>Plan1!$B$2:$B$5</c:f>
              <c:numCache>
                <c:formatCode>0.0%</c:formatCode>
                <c:ptCount val="4"/>
                <c:pt idx="0">
                  <c:v>0.36499999999999999</c:v>
                </c:pt>
                <c:pt idx="1">
                  <c:v>0.15</c:v>
                </c:pt>
                <c:pt idx="2">
                  <c:v>0.14000000000000001</c:v>
                </c:pt>
                <c:pt idx="3">
                  <c:v>0.34499999999999997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D9D-4386-A16D-17E4C68E76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0638080"/>
        <c:axId val="180639616"/>
      </c:barChart>
      <c:catAx>
        <c:axId val="180638080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0639616"/>
        <c:crosses val="autoZero"/>
        <c:auto val="1"/>
        <c:lblAlgn val="ctr"/>
        <c:lblOffset val="100"/>
        <c:noMultiLvlLbl val="0"/>
      </c:catAx>
      <c:valAx>
        <c:axId val="180639616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063808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408607527221749"/>
          <c:y val="1.3048491287332825E-2"/>
          <c:w val="0.5699816911117220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B05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FE94-4183-A791-C4F78B8488B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FE94-4183-A791-C4F78B8488B6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FE94-4183-A791-C4F78B8488B6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FE94-4183-A791-C4F78B8488B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Plan1!$A$2:$A$5</c:f>
              <c:strCache>
                <c:ptCount val="4"/>
                <c:pt idx="0">
                  <c:v>Mariana</c:v>
                </c:pt>
                <c:pt idx="1">
                  <c:v>Dr. Joel</c:v>
                </c:pt>
                <c:pt idx="2">
                  <c:v>Não Sabe</c:v>
                </c:pt>
                <c:pt idx="3">
                  <c:v>Nenhum</c:v>
                </c:pt>
              </c:strCache>
            </c:strRef>
          </c:cat>
          <c:val>
            <c:numRef>
              <c:f>Plan1!$B$2:$B$5</c:f>
              <c:numCache>
                <c:formatCode>0.0%</c:formatCode>
                <c:ptCount val="4"/>
                <c:pt idx="0">
                  <c:v>0.34250000000000003</c:v>
                </c:pt>
                <c:pt idx="1">
                  <c:v>0.21249999999999999</c:v>
                </c:pt>
                <c:pt idx="2">
                  <c:v>0.14749999999999999</c:v>
                </c:pt>
                <c:pt idx="3">
                  <c:v>0.29749999999999999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E94-4183-A791-C4F78B8488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0638080"/>
        <c:axId val="180639616"/>
      </c:barChart>
      <c:catAx>
        <c:axId val="180638080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0639616"/>
        <c:crosses val="autoZero"/>
        <c:auto val="1"/>
        <c:lblAlgn val="ctr"/>
        <c:lblOffset val="100"/>
        <c:noMultiLvlLbl val="0"/>
      </c:catAx>
      <c:valAx>
        <c:axId val="180639616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063808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408607527221749"/>
          <c:y val="1.3048491287332825E-2"/>
          <c:w val="0.5699816911117220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B05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B449-43A3-9FE9-50C157FB96C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B449-43A3-9FE9-50C157FB96C1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B449-43A3-9FE9-50C157FB96C1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B449-43A3-9FE9-50C157FB96C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Plan1!$A$2:$A$5</c:f>
              <c:strCache>
                <c:ptCount val="4"/>
                <c:pt idx="0">
                  <c:v>Dr. Joel</c:v>
                </c:pt>
                <c:pt idx="1">
                  <c:v>Candidato do prefeito</c:v>
                </c:pt>
                <c:pt idx="2">
                  <c:v>Não Sabe</c:v>
                </c:pt>
                <c:pt idx="3">
                  <c:v>Nenhum</c:v>
                </c:pt>
              </c:strCache>
            </c:strRef>
          </c:cat>
          <c:val>
            <c:numRef>
              <c:f>Plan1!$B$2:$B$5</c:f>
              <c:numCache>
                <c:formatCode>0.0%</c:formatCode>
                <c:ptCount val="4"/>
                <c:pt idx="0">
                  <c:v>0.28249999999999997</c:v>
                </c:pt>
                <c:pt idx="1">
                  <c:v>0.1575</c:v>
                </c:pt>
                <c:pt idx="2">
                  <c:v>0.1525</c:v>
                </c:pt>
                <c:pt idx="3">
                  <c:v>0.40749999999999997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449-43A3-9FE9-50C157FB96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0638080"/>
        <c:axId val="180639616"/>
      </c:barChart>
      <c:catAx>
        <c:axId val="180638080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0639616"/>
        <c:crosses val="autoZero"/>
        <c:auto val="1"/>
        <c:lblAlgn val="ctr"/>
        <c:lblOffset val="100"/>
        <c:noMultiLvlLbl val="0"/>
      </c:catAx>
      <c:valAx>
        <c:axId val="180639616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063808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408607527221749"/>
          <c:y val="1.3048491287332825E-2"/>
          <c:w val="0.56998169111172203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2060">
                <a:alpha val="68627"/>
              </a:srgbClr>
            </a:solidFill>
            <a:ln>
              <a:solidFill>
                <a:schemeClr val="bg1"/>
              </a:solidFill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B050">
                  <a:alpha val="64000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B449-43A3-9FE9-50C157FB96C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B449-43A3-9FE9-50C157FB96C1}"/>
              </c:ext>
            </c:extLst>
          </c:dPt>
          <c:dPt>
            <c:idx val="3"/>
            <c:invertIfNegative val="0"/>
            <c:bubble3D val="0"/>
            <c:spPr>
              <a:solidFill>
                <a:srgbClr val="FFFF0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B449-43A3-9FE9-50C157FB96C1}"/>
              </c:ext>
            </c:extLst>
          </c:dPt>
          <c:dPt>
            <c:idx val="4"/>
            <c:invertIfNegative val="0"/>
            <c:bubble3D val="0"/>
            <c:spPr>
              <a:solidFill>
                <a:srgbClr val="00B0F0">
                  <a:alpha val="68627"/>
                </a:srgb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B449-43A3-9FE9-50C157FB96C1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5">
                  <a:lumMod val="40000"/>
                  <a:lumOff val="60000"/>
                  <a:alpha val="68627"/>
                </a:schemeClr>
              </a:solidFill>
              <a:ln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0786-453D-B664-45653AEA618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latin typeface="Arial" panose="020B0604020202020204" pitchFamily="34" charset="0"/>
                    <a:cs typeface="Arial" panose="020B060402020202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Plan1!$A$2:$A$7</c:f>
              <c:strCache>
                <c:ptCount val="6"/>
                <c:pt idx="0">
                  <c:v>Não rejeita nenhum</c:v>
                </c:pt>
                <c:pt idx="1">
                  <c:v>Candidato do Prefeito</c:v>
                </c:pt>
                <c:pt idx="2">
                  <c:v>Não Sabe</c:v>
                </c:pt>
                <c:pt idx="3">
                  <c:v>Dr. Joel</c:v>
                </c:pt>
                <c:pt idx="4">
                  <c:v>Almeida Souza</c:v>
                </c:pt>
                <c:pt idx="5">
                  <c:v>Mariana</c:v>
                </c:pt>
              </c:strCache>
            </c:strRef>
          </c:cat>
          <c:val>
            <c:numRef>
              <c:f>Plan1!$B$2:$B$7</c:f>
              <c:numCache>
                <c:formatCode>0.0%</c:formatCode>
                <c:ptCount val="6"/>
                <c:pt idx="0">
                  <c:v>0.28249999999999997</c:v>
                </c:pt>
                <c:pt idx="1">
                  <c:v>0.26500000000000001</c:v>
                </c:pt>
                <c:pt idx="2">
                  <c:v>0.16500000000000001</c:v>
                </c:pt>
                <c:pt idx="3">
                  <c:v>0.12</c:v>
                </c:pt>
                <c:pt idx="4">
                  <c:v>0.105</c:v>
                </c:pt>
                <c:pt idx="5">
                  <c:v>6.25E-2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449-43A3-9FE9-50C157FB96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0638080"/>
        <c:axId val="180639616"/>
      </c:barChart>
      <c:catAx>
        <c:axId val="180638080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pt-BR"/>
          </a:p>
        </c:txPr>
        <c:crossAx val="180639616"/>
        <c:crosses val="autoZero"/>
        <c:auto val="1"/>
        <c:lblAlgn val="ctr"/>
        <c:lblOffset val="100"/>
        <c:noMultiLvlLbl val="0"/>
      </c:catAx>
      <c:valAx>
        <c:axId val="180639616"/>
        <c:scaling>
          <c:orientation val="minMax"/>
        </c:scaling>
        <c:delete val="1"/>
        <c:axPos val="t"/>
        <c:numFmt formatCode="0.0%" sourceLinked="1"/>
        <c:majorTickMark val="out"/>
        <c:minorTickMark val="none"/>
        <c:tickLblPos val="nextTo"/>
        <c:crossAx val="18063808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 w="38100" cap="rnd">
      <a:solidFill>
        <a:schemeClr val="tx1">
          <a:lumMod val="65000"/>
          <a:lumOff val="35000"/>
        </a:schemeClr>
      </a:solidFill>
      <a:bevel/>
    </a:ln>
    <a:scene3d>
      <a:camera prst="orthographicFront"/>
      <a:lightRig rig="threePt" dir="t"/>
    </a:scene3d>
    <a:sp3d>
      <a:bevelT w="25400"/>
    </a:sp3d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591" cy="34484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5676399" y="0"/>
            <a:ext cx="4341591" cy="34484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79268-0ECA-40A8-9104-9EFDA89F8239}" type="datetimeFigureOut">
              <a:rPr lang="pt-BR" smtClean="0"/>
              <a:pPr/>
              <a:t>14/06/2026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6543318"/>
            <a:ext cx="4341591" cy="3448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5676399" y="6543318"/>
            <a:ext cx="4341591" cy="3448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90A2C-E454-484C-BCF3-41075BBAA46A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99170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675851" y="0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B43C7369-3026-4BED-ACC1-1AA54EFA43A7}" type="datetimeFigureOut">
              <a:rPr lang="pt-BR" smtClean="0"/>
              <a:pPr/>
              <a:t>14/06/2026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138613" y="860425"/>
            <a:ext cx="1743075" cy="2325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002031" y="3314929"/>
            <a:ext cx="8016239" cy="2712214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42560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675851" y="6542560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9EDF8541-40A5-402E-8591-013E430864F7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01339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F8541-40A5-402E-8591-013E430864F7}" type="slidenum">
              <a:rPr lang="pt-BR" smtClean="0"/>
              <a:pPr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3426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1547336" y="841250"/>
            <a:ext cx="3922776" cy="6972300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6669" y="1464517"/>
            <a:ext cx="5804111" cy="5859984"/>
          </a:xfrm>
        </p:spPr>
        <p:txBody>
          <a:bodyPr anchor="ctr">
            <a:noAutofit/>
          </a:bodyPr>
          <a:lstStyle>
            <a:lvl1pPr algn="ctr">
              <a:defRPr sz="5625" spc="45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5963" y="7972264"/>
            <a:ext cx="4525523" cy="989705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125" b="1" i="0" cap="all" spc="225" baseline="0">
                <a:solidFill>
                  <a:schemeClr val="tx2"/>
                </a:solidFill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669" y="8500905"/>
            <a:ext cx="1310469" cy="46461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06EF294-F033-43E6-B75D-67554923F23F}" type="datetime1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14/06/2026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1437" y="8500906"/>
            <a:ext cx="2314575" cy="461061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00311" y="8500906"/>
            <a:ext cx="1310469" cy="461061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0CA5AD1-75D7-461C-8938-D45687F08948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59449" cy="914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0" y="0"/>
            <a:ext cx="159449" cy="914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15293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D1EF2-65ED-42BF-ABE3-8954602F50B3}" type="datetime1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14/06/2026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5AD1-75D7-461C-8938-D45687F0894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870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1" y="0"/>
            <a:ext cx="1583234" cy="9144000"/>
          </a:xfrm>
          <a:custGeom>
            <a:avLst/>
            <a:gdLst/>
            <a:ahLst/>
            <a:cxnLst/>
            <a:rect l="0" t="0" r="r" b="b"/>
            <a:pathLst>
              <a:path w="1773" h="4320">
                <a:moveTo>
                  <a:pt x="0" y="0"/>
                </a:moveTo>
                <a:lnTo>
                  <a:pt x="891" y="0"/>
                </a:lnTo>
                <a:lnTo>
                  <a:pt x="906" y="56"/>
                </a:lnTo>
                <a:lnTo>
                  <a:pt x="921" y="111"/>
                </a:lnTo>
                <a:lnTo>
                  <a:pt x="938" y="165"/>
                </a:lnTo>
                <a:lnTo>
                  <a:pt x="957" y="217"/>
                </a:lnTo>
                <a:lnTo>
                  <a:pt x="980" y="266"/>
                </a:lnTo>
                <a:lnTo>
                  <a:pt x="1007" y="312"/>
                </a:lnTo>
                <a:lnTo>
                  <a:pt x="1036" y="351"/>
                </a:lnTo>
                <a:lnTo>
                  <a:pt x="1069" y="387"/>
                </a:lnTo>
                <a:lnTo>
                  <a:pt x="1105" y="422"/>
                </a:lnTo>
                <a:lnTo>
                  <a:pt x="1145" y="456"/>
                </a:lnTo>
                <a:lnTo>
                  <a:pt x="1185" y="487"/>
                </a:lnTo>
                <a:lnTo>
                  <a:pt x="1227" y="520"/>
                </a:lnTo>
                <a:lnTo>
                  <a:pt x="1270" y="551"/>
                </a:lnTo>
                <a:lnTo>
                  <a:pt x="1311" y="584"/>
                </a:lnTo>
                <a:lnTo>
                  <a:pt x="1352" y="617"/>
                </a:lnTo>
                <a:lnTo>
                  <a:pt x="1390" y="651"/>
                </a:lnTo>
                <a:lnTo>
                  <a:pt x="1425" y="687"/>
                </a:lnTo>
                <a:lnTo>
                  <a:pt x="1456" y="725"/>
                </a:lnTo>
                <a:lnTo>
                  <a:pt x="1484" y="765"/>
                </a:lnTo>
                <a:lnTo>
                  <a:pt x="1505" y="808"/>
                </a:lnTo>
                <a:lnTo>
                  <a:pt x="1521" y="856"/>
                </a:lnTo>
                <a:lnTo>
                  <a:pt x="1530" y="907"/>
                </a:lnTo>
                <a:lnTo>
                  <a:pt x="1534" y="960"/>
                </a:lnTo>
                <a:lnTo>
                  <a:pt x="1534" y="1013"/>
                </a:lnTo>
                <a:lnTo>
                  <a:pt x="1530" y="1068"/>
                </a:lnTo>
                <a:lnTo>
                  <a:pt x="1523" y="1125"/>
                </a:lnTo>
                <a:lnTo>
                  <a:pt x="1515" y="1181"/>
                </a:lnTo>
                <a:lnTo>
                  <a:pt x="1508" y="1237"/>
                </a:lnTo>
                <a:lnTo>
                  <a:pt x="1501" y="1293"/>
                </a:lnTo>
                <a:lnTo>
                  <a:pt x="1496" y="1350"/>
                </a:lnTo>
                <a:lnTo>
                  <a:pt x="1494" y="1405"/>
                </a:lnTo>
                <a:lnTo>
                  <a:pt x="1497" y="1458"/>
                </a:lnTo>
                <a:lnTo>
                  <a:pt x="1504" y="1511"/>
                </a:lnTo>
                <a:lnTo>
                  <a:pt x="1517" y="1560"/>
                </a:lnTo>
                <a:lnTo>
                  <a:pt x="1535" y="1610"/>
                </a:lnTo>
                <a:lnTo>
                  <a:pt x="1557" y="1659"/>
                </a:lnTo>
                <a:lnTo>
                  <a:pt x="1583" y="1708"/>
                </a:lnTo>
                <a:lnTo>
                  <a:pt x="1611" y="1757"/>
                </a:lnTo>
                <a:lnTo>
                  <a:pt x="1640" y="1807"/>
                </a:lnTo>
                <a:lnTo>
                  <a:pt x="1669" y="1855"/>
                </a:lnTo>
                <a:lnTo>
                  <a:pt x="1696" y="1905"/>
                </a:lnTo>
                <a:lnTo>
                  <a:pt x="1721" y="1954"/>
                </a:lnTo>
                <a:lnTo>
                  <a:pt x="1742" y="2006"/>
                </a:lnTo>
                <a:lnTo>
                  <a:pt x="1759" y="2057"/>
                </a:lnTo>
                <a:lnTo>
                  <a:pt x="1769" y="2108"/>
                </a:lnTo>
                <a:lnTo>
                  <a:pt x="1773" y="2160"/>
                </a:lnTo>
                <a:lnTo>
                  <a:pt x="1769" y="2212"/>
                </a:lnTo>
                <a:lnTo>
                  <a:pt x="1759" y="2263"/>
                </a:lnTo>
                <a:lnTo>
                  <a:pt x="1742" y="2314"/>
                </a:lnTo>
                <a:lnTo>
                  <a:pt x="1721" y="2366"/>
                </a:lnTo>
                <a:lnTo>
                  <a:pt x="1696" y="2415"/>
                </a:lnTo>
                <a:lnTo>
                  <a:pt x="1669" y="2465"/>
                </a:lnTo>
                <a:lnTo>
                  <a:pt x="1640" y="2513"/>
                </a:lnTo>
                <a:lnTo>
                  <a:pt x="1611" y="2563"/>
                </a:lnTo>
                <a:lnTo>
                  <a:pt x="1583" y="2612"/>
                </a:lnTo>
                <a:lnTo>
                  <a:pt x="1557" y="2661"/>
                </a:lnTo>
                <a:lnTo>
                  <a:pt x="1535" y="2710"/>
                </a:lnTo>
                <a:lnTo>
                  <a:pt x="1517" y="2760"/>
                </a:lnTo>
                <a:lnTo>
                  <a:pt x="1504" y="2809"/>
                </a:lnTo>
                <a:lnTo>
                  <a:pt x="1497" y="2862"/>
                </a:lnTo>
                <a:lnTo>
                  <a:pt x="1494" y="2915"/>
                </a:lnTo>
                <a:lnTo>
                  <a:pt x="1496" y="2970"/>
                </a:lnTo>
                <a:lnTo>
                  <a:pt x="1501" y="3027"/>
                </a:lnTo>
                <a:lnTo>
                  <a:pt x="1508" y="3083"/>
                </a:lnTo>
                <a:lnTo>
                  <a:pt x="1515" y="3139"/>
                </a:lnTo>
                <a:lnTo>
                  <a:pt x="1523" y="3195"/>
                </a:lnTo>
                <a:lnTo>
                  <a:pt x="1530" y="3252"/>
                </a:lnTo>
                <a:lnTo>
                  <a:pt x="1534" y="3307"/>
                </a:lnTo>
                <a:lnTo>
                  <a:pt x="1534" y="3360"/>
                </a:lnTo>
                <a:lnTo>
                  <a:pt x="1530" y="3413"/>
                </a:lnTo>
                <a:lnTo>
                  <a:pt x="1521" y="3464"/>
                </a:lnTo>
                <a:lnTo>
                  <a:pt x="1505" y="3512"/>
                </a:lnTo>
                <a:lnTo>
                  <a:pt x="1484" y="3555"/>
                </a:lnTo>
                <a:lnTo>
                  <a:pt x="1456" y="3595"/>
                </a:lnTo>
                <a:lnTo>
                  <a:pt x="1425" y="3633"/>
                </a:lnTo>
                <a:lnTo>
                  <a:pt x="1390" y="3669"/>
                </a:lnTo>
                <a:lnTo>
                  <a:pt x="1352" y="3703"/>
                </a:lnTo>
                <a:lnTo>
                  <a:pt x="1311" y="3736"/>
                </a:lnTo>
                <a:lnTo>
                  <a:pt x="1270" y="3769"/>
                </a:lnTo>
                <a:lnTo>
                  <a:pt x="1227" y="3800"/>
                </a:lnTo>
                <a:lnTo>
                  <a:pt x="1185" y="3833"/>
                </a:lnTo>
                <a:lnTo>
                  <a:pt x="1145" y="3864"/>
                </a:lnTo>
                <a:lnTo>
                  <a:pt x="1105" y="3898"/>
                </a:lnTo>
                <a:lnTo>
                  <a:pt x="1069" y="3933"/>
                </a:lnTo>
                <a:lnTo>
                  <a:pt x="1036" y="3969"/>
                </a:lnTo>
                <a:lnTo>
                  <a:pt x="1007" y="4008"/>
                </a:lnTo>
                <a:lnTo>
                  <a:pt x="980" y="4054"/>
                </a:lnTo>
                <a:lnTo>
                  <a:pt x="957" y="4103"/>
                </a:lnTo>
                <a:lnTo>
                  <a:pt x="938" y="4155"/>
                </a:lnTo>
                <a:lnTo>
                  <a:pt x="921" y="4209"/>
                </a:lnTo>
                <a:lnTo>
                  <a:pt x="906" y="4264"/>
                </a:lnTo>
                <a:lnTo>
                  <a:pt x="891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4148" y="1431853"/>
            <a:ext cx="4605227" cy="5419503"/>
          </a:xfrm>
        </p:spPr>
        <p:txBody>
          <a:bodyPr anchor="b">
            <a:normAutofit/>
          </a:bodyPr>
          <a:lstStyle>
            <a:lvl1pPr>
              <a:defRPr sz="4725" spc="45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4149" y="6879710"/>
            <a:ext cx="3947337" cy="12681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125" b="1" i="0" cap="all" spc="225" baseline="0">
                <a:solidFill>
                  <a:schemeClr val="accent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820558" y="8500905"/>
            <a:ext cx="840345" cy="46461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426765-3932-4846-912C-8EABB19A21E5}" type="datetime1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14/06/2026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69474" y="8500906"/>
            <a:ext cx="2314575" cy="46106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592619" y="8500906"/>
            <a:ext cx="836756" cy="46106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0CA5AD1-75D7-461C-8938-D45687F08948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6" name="Freeform 11"/>
          <p:cNvSpPr/>
          <p:nvPr/>
        </p:nvSpPr>
        <p:spPr bwMode="auto">
          <a:xfrm>
            <a:off x="491840" y="0"/>
            <a:ext cx="926009" cy="9144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grpSp>
        <p:nvGrpSpPr>
          <p:cNvPr id="7" name="Group 6"/>
          <p:cNvGrpSpPr/>
          <p:nvPr/>
        </p:nvGrpSpPr>
        <p:grpSpPr>
          <a:xfrm>
            <a:off x="1" y="0"/>
            <a:ext cx="1583234" cy="9144000"/>
            <a:chOff x="0" y="0"/>
            <a:chExt cx="2110979" cy="6858000"/>
          </a:xfrm>
        </p:grpSpPr>
        <p:sp>
          <p:nvSpPr>
            <p:cNvPr id="9" name="Freeform 8"/>
            <p:cNvSpPr/>
            <p:nvPr/>
          </p:nvSpPr>
          <p:spPr bwMode="auto">
            <a:xfrm>
              <a:off x="0" y="0"/>
              <a:ext cx="2110979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0" name="Freeform 11"/>
            <p:cNvSpPr/>
            <p:nvPr/>
          </p:nvSpPr>
          <p:spPr bwMode="auto">
            <a:xfrm>
              <a:off x="655786" y="0"/>
              <a:ext cx="1234679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27119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231" y="3048000"/>
            <a:ext cx="2695194" cy="48260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39385" y="3048000"/>
            <a:ext cx="2695194" cy="48260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DD537-2BD5-42BE-9B56-2200C36DFF75}" type="datetime1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14/06/2026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5AD1-75D7-461C-8938-D45687F08948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208CACA-A236-3380-DB64-5771C65EB4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31995"/>
            <a:ext cx="1334166" cy="844306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336695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232" y="508002"/>
            <a:ext cx="5722144" cy="199135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374" y="2932846"/>
            <a:ext cx="2708910" cy="84337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350" b="1" cap="all" spc="113" baseline="0">
                <a:solidFill>
                  <a:schemeClr val="tx2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6374" y="3878803"/>
            <a:ext cx="2708910" cy="399519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31549" y="2932846"/>
            <a:ext cx="2708910" cy="84337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350" b="1" cap="all" spc="113" baseline="0">
                <a:solidFill>
                  <a:schemeClr val="tx2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31549" y="3878803"/>
            <a:ext cx="2708910" cy="399519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94D30-EA68-453B-BCDA-C818F59A2A1A}" type="datetime1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14/06/2026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5AD1-75D7-461C-8938-D45687F08948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6370E86-8A4D-FAF6-9951-114F2923C2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31995"/>
            <a:ext cx="1334166" cy="844306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22788693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C9F75-F8DF-41B0-B1B1-627A1A8B748F}" type="datetime1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14/06/2026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5AD1-75D7-461C-8938-D45687F08948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58BBE3F-0B4A-C8F7-8DB4-FF1CE23A0D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31995"/>
            <a:ext cx="1334166" cy="844306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1350753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E78A-B014-4B0B-AD25-27AAC5E3BA8D}" type="datetime1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14/06/2026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5AD1-75D7-461C-8938-D45687F0894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1646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/>
          <p:cNvSpPr/>
          <p:nvPr/>
        </p:nvSpPr>
        <p:spPr bwMode="auto">
          <a:xfrm>
            <a:off x="4156770" y="0"/>
            <a:ext cx="2701231" cy="9144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0060" y="609601"/>
            <a:ext cx="1739315" cy="159556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350" b="1" i="0" cap="all" spc="169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341" y="1227169"/>
            <a:ext cx="3464111" cy="664683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90060" y="2321781"/>
            <a:ext cx="1739315" cy="5552219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None/>
              <a:defRPr sz="1050" baseline="0">
                <a:solidFill>
                  <a:schemeClr val="bg2"/>
                </a:solidFill>
              </a:defRPr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30342" y="8500905"/>
            <a:ext cx="693762" cy="464616"/>
          </a:xfrm>
        </p:spPr>
        <p:txBody>
          <a:bodyPr/>
          <a:lstStyle/>
          <a:p>
            <a:fld id="{08E6E6AC-2669-434C-86ED-948F97D977E1}" type="datetime1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14/06/2026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83287" y="8500906"/>
            <a:ext cx="1958726" cy="461061"/>
          </a:xfrm>
        </p:spPr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201195" y="8500906"/>
            <a:ext cx="693257" cy="461061"/>
          </a:xfrm>
        </p:spPr>
        <p:txBody>
          <a:bodyPr/>
          <a:lstStyle/>
          <a:p>
            <a:fld id="{20CA5AD1-75D7-461C-8938-D45687F08948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59449" cy="9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0" y="0"/>
            <a:ext cx="159449" cy="914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91088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9449" y="2"/>
            <a:ext cx="4137517" cy="9143999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>
            <a:off x="4156770" y="0"/>
            <a:ext cx="2701231" cy="9144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/>
          <p:cNvSpPr/>
          <p:nvPr/>
        </p:nvSpPr>
        <p:spPr>
          <a:xfrm>
            <a:off x="0" y="0"/>
            <a:ext cx="159449" cy="9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0060" y="609600"/>
            <a:ext cx="1739316" cy="159556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350" b="1" i="0" spc="169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90060" y="2321781"/>
            <a:ext cx="1739316" cy="5552219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900"/>
              </a:spcBef>
              <a:buNone/>
              <a:defRPr sz="1050" baseline="0">
                <a:solidFill>
                  <a:schemeClr val="bg2"/>
                </a:solidFill>
              </a:defRPr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30847" y="8500905"/>
            <a:ext cx="693257" cy="464616"/>
          </a:xfrm>
        </p:spPr>
        <p:txBody>
          <a:bodyPr/>
          <a:lstStyle/>
          <a:p>
            <a:fld id="{B79C6AB8-E8CB-4AE5-81BF-8EB884E75F64}" type="datetime1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14/06/2026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83287" y="8500906"/>
            <a:ext cx="1958726" cy="461061"/>
          </a:xfrm>
        </p:spPr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192115" y="8500906"/>
            <a:ext cx="710595" cy="461061"/>
          </a:xfrm>
        </p:spPr>
        <p:txBody>
          <a:bodyPr/>
          <a:lstStyle/>
          <a:p>
            <a:fld id="{20CA5AD1-75D7-461C-8938-D45687F08948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59449" cy="9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7521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3757D-F2F9-4D2F-A97D-A585512B1C79}" type="datetime1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14/06/2026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5AD1-75D7-461C-8938-D45687F0894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7596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72683" y="509848"/>
            <a:ext cx="1328948" cy="746720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231" y="509848"/>
            <a:ext cx="4357138" cy="746720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DF6CF-CC9C-489B-BA91-E170D728C807}" type="datetime1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14/06/2026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5AD1-75D7-461C-8938-D45687F0894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6673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6812" y="812800"/>
            <a:ext cx="4943989" cy="4156053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812" y="5805395"/>
            <a:ext cx="4943989" cy="2074485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68266-AEB2-4878-844C-88DD576D9661}" type="datetime1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14/06/2026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421" y="4325521"/>
            <a:ext cx="438734" cy="486833"/>
          </a:xfrm>
        </p:spPr>
        <p:txBody>
          <a:bodyPr/>
          <a:lstStyle/>
          <a:p>
            <a:fld id="{20CA5AD1-75D7-461C-8938-D45687F0894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3153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0" u="sng">
                <a:solidFill>
                  <a:srgbClr val="006FC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FOCO</a:t>
            </a:r>
            <a:r>
              <a:rPr spc="-15" dirty="0"/>
              <a:t> </a:t>
            </a:r>
            <a:r>
              <a:rPr dirty="0"/>
              <a:t>–</a:t>
            </a:r>
            <a:r>
              <a:rPr spc="20" dirty="0"/>
              <a:t> </a:t>
            </a:r>
            <a:r>
              <a:rPr spc="-10" dirty="0"/>
              <a:t>PRODUÇÕES</a:t>
            </a:r>
            <a:r>
              <a:rPr spc="-35" dirty="0"/>
              <a:t> </a:t>
            </a:r>
            <a:r>
              <a:rPr dirty="0"/>
              <a:t>E</a:t>
            </a:r>
            <a:r>
              <a:rPr spc="15" dirty="0"/>
              <a:t> </a:t>
            </a:r>
            <a:r>
              <a:rPr spc="-10" dirty="0"/>
              <a:t>PUBLICIDADE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2445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4068" y="509847"/>
            <a:ext cx="5725307" cy="19895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4068" y="3048003"/>
            <a:ext cx="5725307" cy="47914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4069" y="8500905"/>
            <a:ext cx="1310469" cy="4646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1FDDBAD-9725-48F7-AEDE-570B6AE37EA8}" type="datetime1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14/06/2026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500906"/>
            <a:ext cx="2314575" cy="461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4" y="8500906"/>
            <a:ext cx="1585912" cy="461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0CA5AD1-75D7-461C-8938-D45687F08948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2" name="Rectangle 11"/>
          <p:cNvSpPr/>
          <p:nvPr/>
        </p:nvSpPr>
        <p:spPr>
          <a:xfrm>
            <a:off x="6779940" y="0"/>
            <a:ext cx="78060" cy="9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779941" y="0"/>
            <a:ext cx="78059" cy="914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Freeform 5"/>
          <p:cNvSpPr/>
          <p:nvPr/>
        </p:nvSpPr>
        <p:spPr bwMode="auto">
          <a:xfrm>
            <a:off x="0" y="0"/>
            <a:ext cx="159449" cy="9144000"/>
          </a:xfrm>
          <a:custGeom>
            <a:avLst/>
            <a:gdLst/>
            <a:ahLst/>
            <a:cxnLst/>
            <a:rect l="0" t="0" r="r" b="b"/>
            <a:pathLst>
              <a:path w="211" h="216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19364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1" r:id="rId1"/>
    <p:sldLayoutId id="2147484152" r:id="rId2"/>
    <p:sldLayoutId id="2147484153" r:id="rId3"/>
    <p:sldLayoutId id="2147484154" r:id="rId4"/>
    <p:sldLayoutId id="2147484155" r:id="rId5"/>
    <p:sldLayoutId id="2147484156" r:id="rId6"/>
    <p:sldLayoutId id="2147484157" r:id="rId7"/>
    <p:sldLayoutId id="2147484158" r:id="rId8"/>
    <p:sldLayoutId id="2147484159" r:id="rId9"/>
    <p:sldLayoutId id="2147484160" r:id="rId10"/>
    <p:sldLayoutId id="2147484161" r:id="rId11"/>
    <p:sldLayoutId id="2147484162" r:id="rId12"/>
    <p:sldLayoutId id="2147484163" r:id="rId13"/>
  </p:sldLayoutIdLst>
  <p:hf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3825" kern="1200" cap="all" spc="113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51435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71450" algn="l" defTabSz="51435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71450" algn="l" defTabSz="51435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71450" algn="l" defTabSz="51435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71450" algn="l" defTabSz="51435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51435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51435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51435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51435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594">
          <p15:clr>
            <a:srgbClr val="F26B43"/>
          </p15:clr>
        </p15:guide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pos="5400">
          <p15:clr>
            <a:srgbClr val="F26B43"/>
          </p15:clr>
        </p15:guide>
        <p15:guide id="4" orient="horz" pos="400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720">
          <p15:clr>
            <a:srgbClr val="F26B43"/>
          </p15:clr>
        </p15:guide>
        <p15:guide id="7" orient="horz" pos="2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chart" Target="../charts/chart4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6.png"/><Relationship Id="rId9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719175" y="5720398"/>
            <a:ext cx="5419648" cy="86177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endParaRPr lang="pt-BR" sz="1000" b="1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pt-BR" sz="2000" dirty="0">
                <a:ln w="0"/>
                <a:solidFill>
                  <a:srgbClr val="000099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MUNICÍPIO DE </a:t>
            </a:r>
            <a:r>
              <a:rPr lang="pt-BR" sz="2000" dirty="0" smtClean="0">
                <a:ln w="0"/>
                <a:solidFill>
                  <a:srgbClr val="000099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CAJARI</a:t>
            </a:r>
            <a:endParaRPr lang="pt-BR" sz="2000" dirty="0">
              <a:ln w="0"/>
              <a:solidFill>
                <a:srgbClr val="000099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gency FB" panose="020B0503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pt-BR" sz="2000" dirty="0" smtClean="0">
                <a:ln w="0"/>
                <a:solidFill>
                  <a:srgbClr val="000099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30 </a:t>
            </a:r>
            <a:r>
              <a:rPr lang="pt-BR" sz="2000" dirty="0">
                <a:ln w="0"/>
                <a:solidFill>
                  <a:srgbClr val="000099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 </a:t>
            </a:r>
            <a:r>
              <a:rPr lang="pt-BR" sz="2000" dirty="0" smtClean="0">
                <a:ln w="0"/>
                <a:solidFill>
                  <a:srgbClr val="000099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ABRILA 1 DE MAIO </a:t>
            </a:r>
            <a:r>
              <a:rPr lang="pt-BR" sz="2000" dirty="0">
                <a:ln w="0"/>
                <a:solidFill>
                  <a:srgbClr val="000099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 2026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6B7DE28-5628-4B48-9042-B967CC26505B}"/>
              </a:ext>
            </a:extLst>
          </p:cNvPr>
          <p:cNvSpPr/>
          <p:nvPr/>
        </p:nvSpPr>
        <p:spPr>
          <a:xfrm>
            <a:off x="805448" y="3911805"/>
            <a:ext cx="541964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ency FB" panose="020B05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RELATÓRIO FINAL </a:t>
            </a:r>
          </a:p>
          <a:p>
            <a:pPr algn="ctr"/>
            <a:r>
              <a:rPr lang="pt-BR" sz="32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gency FB" panose="020B05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PESQUISA DE OPINIÃO PÚBLICA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948DD61-C7E3-4036-9526-267E11DF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91011" y="4737780"/>
            <a:ext cx="438734" cy="486833"/>
          </a:xfrm>
        </p:spPr>
        <p:txBody>
          <a:bodyPr/>
          <a:lstStyle/>
          <a:p>
            <a:fld id="{20CA5AD1-75D7-461C-8938-D45687F08948}" type="slidenum">
              <a:rPr lang="pt-BR" smtClean="0"/>
              <a:pPr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1737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45870" y="1358899"/>
            <a:ext cx="35782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485425"/>
                </a:solidFill>
                <a:latin typeface="Verdana"/>
                <a:cs typeface="Verdana"/>
              </a:rPr>
              <a:t>CONSIDERAÇÕES</a:t>
            </a:r>
            <a:r>
              <a:rPr sz="1400" b="1" spc="-80" dirty="0">
                <a:solidFill>
                  <a:srgbClr val="485425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485425"/>
                </a:solidFill>
                <a:latin typeface="Verdana"/>
                <a:cs typeface="Verdana"/>
              </a:rPr>
              <a:t>METODOLÓGICAS</a:t>
            </a:r>
            <a:endParaRPr sz="14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775" y="2168664"/>
            <a:ext cx="1076706" cy="40156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84910" y="2212594"/>
            <a:ext cx="4888865" cy="12234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485425"/>
                </a:solidFill>
                <a:latin typeface="Verdana"/>
                <a:cs typeface="Verdana"/>
              </a:rPr>
              <a:t>OBJETIVO</a:t>
            </a:r>
            <a:endParaRPr sz="1400" dirty="0">
              <a:latin typeface="Verdana"/>
              <a:cs typeface="Verdana"/>
            </a:endParaRPr>
          </a:p>
          <a:p>
            <a:pPr marL="12700" marR="5080" indent="449580">
              <a:lnSpc>
                <a:spcPct val="150000"/>
              </a:lnSpc>
              <a:spcBef>
                <a:spcPts val="219"/>
              </a:spcBef>
              <a:tabLst>
                <a:tab pos="1522730" algn="l"/>
                <a:tab pos="1828164" algn="l"/>
                <a:tab pos="2664460" algn="l"/>
                <a:tab pos="3323590" algn="l"/>
                <a:tab pos="3628390" algn="l"/>
              </a:tabLst>
            </a:pPr>
            <a:r>
              <a:rPr sz="1400" spc="-10" dirty="0">
                <a:latin typeface="Verdana"/>
                <a:cs typeface="Verdana"/>
              </a:rPr>
              <a:t>Conhecer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6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10" dirty="0">
                <a:latin typeface="Verdana"/>
                <a:cs typeface="Verdana"/>
              </a:rPr>
              <a:t>opinião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10" dirty="0">
                <a:latin typeface="Verdana"/>
                <a:cs typeface="Verdana"/>
              </a:rPr>
              <a:t>sobre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6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10" dirty="0">
                <a:latin typeface="Verdana"/>
                <a:cs typeface="Verdana"/>
              </a:rPr>
              <a:t>administração </a:t>
            </a:r>
            <a:r>
              <a:rPr sz="1400" dirty="0">
                <a:latin typeface="Verdana"/>
                <a:cs typeface="Verdana"/>
              </a:rPr>
              <a:t>pública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municipal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lang="pt-BR" sz="1400" spc="-85" dirty="0" smtClean="0">
                <a:latin typeface="Verdana"/>
                <a:cs typeface="Verdana"/>
              </a:rPr>
              <a:t>e intenção de voto </a:t>
            </a:r>
            <a:r>
              <a:rPr sz="1400" spc="100" dirty="0" smtClean="0">
                <a:latin typeface="Verdana"/>
                <a:cs typeface="Verdana"/>
              </a:rPr>
              <a:t>da</a:t>
            </a:r>
            <a:r>
              <a:rPr sz="1400" spc="-40" dirty="0" smtClean="0">
                <a:latin typeface="Verdana"/>
                <a:cs typeface="Verdana"/>
              </a:rPr>
              <a:t> </a:t>
            </a:r>
            <a:r>
              <a:rPr sz="1400" spc="55" dirty="0" err="1" smtClean="0">
                <a:latin typeface="Verdana"/>
                <a:cs typeface="Verdana"/>
              </a:rPr>
              <a:t>po</a:t>
            </a:r>
            <a:r>
              <a:rPr lang="pt-BR" sz="1400" spc="55" dirty="0" smtClean="0">
                <a:latin typeface="Verdana"/>
                <a:cs typeface="Verdana"/>
              </a:rPr>
              <a:t>pulação do município de BELA VISTA DO MARANHÃO</a:t>
            </a:r>
            <a:r>
              <a:rPr sz="1400" spc="-10" dirty="0" smtClean="0">
                <a:latin typeface="Verdana"/>
                <a:cs typeface="Verdana"/>
              </a:rPr>
              <a:t>/MA</a:t>
            </a:r>
            <a:r>
              <a:rPr sz="1400" spc="-10" dirty="0">
                <a:latin typeface="Verdana"/>
                <a:cs typeface="Verdana"/>
              </a:rPr>
              <a:t>.</a:t>
            </a:r>
            <a:endParaRPr sz="1400" dirty="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775" y="3796296"/>
            <a:ext cx="1584198" cy="40156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84910" y="3839921"/>
            <a:ext cx="5339690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485425"/>
                </a:solidFill>
                <a:latin typeface="Verdana"/>
                <a:cs typeface="Verdana"/>
              </a:rPr>
              <a:t>METODOLOGIA</a:t>
            </a:r>
            <a:endParaRPr sz="14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400" dirty="0">
              <a:latin typeface="Verdana"/>
              <a:cs typeface="Verdana"/>
            </a:endParaRPr>
          </a:p>
          <a:p>
            <a:pPr marL="12700" marR="5080" indent="539750" algn="just">
              <a:lnSpc>
                <a:spcPct val="150000"/>
              </a:lnSpc>
            </a:pPr>
            <a:r>
              <a:rPr sz="1400" spc="65" dirty="0">
                <a:latin typeface="Verdana"/>
                <a:cs typeface="Verdana"/>
              </a:rPr>
              <a:t>A</a:t>
            </a:r>
            <a:r>
              <a:rPr sz="1400" spc="1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Pesquisa</a:t>
            </a:r>
            <a:r>
              <a:rPr sz="1400" spc="1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foi</a:t>
            </a:r>
            <a:r>
              <a:rPr sz="1400" spc="1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realizada</a:t>
            </a:r>
            <a:r>
              <a:rPr sz="1400" spc="1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por</a:t>
            </a:r>
            <a:r>
              <a:rPr sz="1400" spc="1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meio</a:t>
            </a:r>
            <a:r>
              <a:rPr sz="1400" spc="140" dirty="0">
                <a:latin typeface="Verdana"/>
                <a:cs typeface="Verdana"/>
              </a:rPr>
              <a:t> </a:t>
            </a:r>
            <a:r>
              <a:rPr sz="1400" spc="70" dirty="0">
                <a:latin typeface="Verdana"/>
                <a:cs typeface="Verdana"/>
              </a:rPr>
              <a:t>de</a:t>
            </a:r>
            <a:r>
              <a:rPr sz="1400" spc="135" dirty="0">
                <a:latin typeface="Verdana"/>
                <a:cs typeface="Verdana"/>
              </a:rPr>
              <a:t> </a:t>
            </a:r>
            <a:r>
              <a:rPr sz="1400" spc="-30" dirty="0">
                <a:latin typeface="Verdana"/>
                <a:cs typeface="Verdana"/>
              </a:rPr>
              <a:t>entrevista </a:t>
            </a:r>
            <a:r>
              <a:rPr sz="1400" spc="-10" dirty="0">
                <a:latin typeface="Verdana"/>
                <a:cs typeface="Verdana"/>
              </a:rPr>
              <a:t>direta,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através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70" dirty="0">
                <a:latin typeface="Verdana"/>
                <a:cs typeface="Verdana"/>
              </a:rPr>
              <a:t>de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questionário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40" dirty="0">
                <a:latin typeface="Verdana"/>
                <a:cs typeface="Verdana"/>
              </a:rPr>
              <a:t>estruturado.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Em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função </a:t>
            </a:r>
            <a:r>
              <a:rPr sz="1400" spc="75" dirty="0">
                <a:latin typeface="Verdana"/>
                <a:cs typeface="Verdana"/>
              </a:rPr>
              <a:t>do</a:t>
            </a:r>
            <a:r>
              <a:rPr sz="1400" spc="15" dirty="0">
                <a:latin typeface="Verdana"/>
                <a:cs typeface="Verdana"/>
              </a:rPr>
              <a:t>  </a:t>
            </a:r>
            <a:r>
              <a:rPr sz="1400" dirty="0">
                <a:latin typeface="Verdana"/>
                <a:cs typeface="Verdana"/>
              </a:rPr>
              <a:t>objetivo</a:t>
            </a:r>
            <a:r>
              <a:rPr sz="1400" spc="15" dirty="0">
                <a:latin typeface="Verdana"/>
                <a:cs typeface="Verdana"/>
              </a:rPr>
              <a:t>  </a:t>
            </a:r>
            <a:r>
              <a:rPr sz="1400" dirty="0">
                <a:latin typeface="Verdana"/>
                <a:cs typeface="Verdana"/>
              </a:rPr>
              <a:t>proposto</a:t>
            </a:r>
            <a:r>
              <a:rPr sz="1400" spc="25" dirty="0">
                <a:latin typeface="Verdana"/>
                <a:cs typeface="Verdana"/>
              </a:rPr>
              <a:t>  </a:t>
            </a:r>
            <a:r>
              <a:rPr sz="1400" spc="65" dirty="0">
                <a:latin typeface="Verdana"/>
                <a:cs typeface="Verdana"/>
              </a:rPr>
              <a:t>e</a:t>
            </a:r>
            <a:r>
              <a:rPr sz="1400" spc="25" dirty="0">
                <a:latin typeface="Verdana"/>
                <a:cs typeface="Verdana"/>
              </a:rPr>
              <a:t>  </a:t>
            </a:r>
            <a:r>
              <a:rPr sz="1400" spc="100" dirty="0">
                <a:latin typeface="Verdana"/>
                <a:cs typeface="Verdana"/>
              </a:rPr>
              <a:t>da</a:t>
            </a:r>
            <a:r>
              <a:rPr sz="1400" spc="20" dirty="0">
                <a:latin typeface="Verdana"/>
                <a:cs typeface="Verdana"/>
              </a:rPr>
              <a:t>  </a:t>
            </a:r>
            <a:r>
              <a:rPr sz="1400" spc="55" dirty="0">
                <a:latin typeface="Verdana"/>
                <a:cs typeface="Verdana"/>
              </a:rPr>
              <a:t>população</a:t>
            </a:r>
            <a:r>
              <a:rPr sz="1400" spc="30" dirty="0">
                <a:latin typeface="Verdana"/>
                <a:cs typeface="Verdana"/>
              </a:rPr>
              <a:t>  </a:t>
            </a:r>
            <a:r>
              <a:rPr sz="1400" dirty="0">
                <a:latin typeface="Verdana"/>
                <a:cs typeface="Verdana"/>
              </a:rPr>
              <a:t>alvo</a:t>
            </a:r>
            <a:r>
              <a:rPr sz="1400" spc="20" dirty="0">
                <a:latin typeface="Verdana"/>
                <a:cs typeface="Verdana"/>
              </a:rPr>
              <a:t>  </a:t>
            </a:r>
            <a:r>
              <a:rPr sz="1400" spc="114" dirty="0">
                <a:latin typeface="Verdana"/>
                <a:cs typeface="Verdana"/>
              </a:rPr>
              <a:t>a</a:t>
            </a:r>
            <a:r>
              <a:rPr sz="1400" spc="20" dirty="0">
                <a:latin typeface="Verdana"/>
                <a:cs typeface="Verdana"/>
              </a:rPr>
              <a:t>  </a:t>
            </a:r>
            <a:r>
              <a:rPr sz="1400" spc="-25" dirty="0">
                <a:latin typeface="Verdana"/>
                <a:cs typeface="Verdana"/>
              </a:rPr>
              <a:t>ser </a:t>
            </a:r>
            <a:r>
              <a:rPr sz="1400" dirty="0">
                <a:latin typeface="Verdana"/>
                <a:cs typeface="Verdana"/>
              </a:rPr>
              <a:t>manuseada,</a:t>
            </a:r>
            <a:r>
              <a:rPr sz="1400" spc="330" dirty="0">
                <a:latin typeface="Verdana"/>
                <a:cs typeface="Verdana"/>
              </a:rPr>
              <a:t>  </a:t>
            </a:r>
            <a:r>
              <a:rPr sz="1400" dirty="0">
                <a:latin typeface="Verdana"/>
                <a:cs typeface="Verdana"/>
              </a:rPr>
              <a:t>foi</a:t>
            </a:r>
            <a:r>
              <a:rPr sz="1400" spc="345" dirty="0">
                <a:latin typeface="Verdana"/>
                <a:cs typeface="Verdana"/>
              </a:rPr>
              <a:t>  </a:t>
            </a:r>
            <a:r>
              <a:rPr sz="1400" dirty="0">
                <a:latin typeface="Verdana"/>
                <a:cs typeface="Verdana"/>
              </a:rPr>
              <a:t>definido</a:t>
            </a:r>
            <a:r>
              <a:rPr sz="1400" spc="340" dirty="0">
                <a:latin typeface="Verdana"/>
                <a:cs typeface="Verdana"/>
              </a:rPr>
              <a:t>  </a:t>
            </a:r>
            <a:r>
              <a:rPr sz="1400" spc="114" dirty="0">
                <a:latin typeface="Verdana"/>
                <a:cs typeface="Verdana"/>
              </a:rPr>
              <a:t>a</a:t>
            </a:r>
            <a:r>
              <a:rPr sz="1400" spc="345" dirty="0">
                <a:latin typeface="Verdana"/>
                <a:cs typeface="Verdana"/>
              </a:rPr>
              <a:t>  </a:t>
            </a:r>
            <a:r>
              <a:rPr sz="1400" spc="65" dirty="0">
                <a:latin typeface="Verdana"/>
                <a:cs typeface="Verdana"/>
              </a:rPr>
              <a:t>aplicação</a:t>
            </a:r>
            <a:r>
              <a:rPr sz="1400" spc="340" dirty="0">
                <a:latin typeface="Verdana"/>
                <a:cs typeface="Verdana"/>
              </a:rPr>
              <a:t>  </a:t>
            </a:r>
            <a:r>
              <a:rPr sz="1400" spc="75" dirty="0">
                <a:latin typeface="Verdana"/>
                <a:cs typeface="Verdana"/>
              </a:rPr>
              <a:t>de</a:t>
            </a:r>
            <a:r>
              <a:rPr sz="1400" spc="335" dirty="0">
                <a:latin typeface="Verdana"/>
                <a:cs typeface="Verdana"/>
              </a:rPr>
              <a:t>  </a:t>
            </a:r>
            <a:r>
              <a:rPr lang="pt-BR" sz="1400" spc="-40" dirty="0" smtClean="0">
                <a:latin typeface="Verdana"/>
                <a:cs typeface="Verdana"/>
              </a:rPr>
              <a:t>429 </a:t>
            </a:r>
            <a:r>
              <a:rPr sz="1400" spc="-45" dirty="0" err="1">
                <a:latin typeface="Verdana"/>
                <a:cs typeface="Verdana"/>
              </a:rPr>
              <a:t>questionários</a:t>
            </a:r>
            <a:r>
              <a:rPr sz="1400" spc="-45" dirty="0">
                <a:latin typeface="Verdana"/>
                <a:cs typeface="Verdana"/>
              </a:rPr>
              <a:t>,</a:t>
            </a:r>
            <a:r>
              <a:rPr sz="1400" spc="4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distribuídos</a:t>
            </a:r>
            <a:r>
              <a:rPr sz="1400" spc="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por</a:t>
            </a:r>
            <a:r>
              <a:rPr sz="1400" spc="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localidades</a:t>
            </a:r>
            <a:r>
              <a:rPr sz="1400" spc="55" dirty="0">
                <a:latin typeface="Verdana"/>
                <a:cs typeface="Verdana"/>
              </a:rPr>
              <a:t> </a:t>
            </a:r>
            <a:r>
              <a:rPr sz="1400" spc="75" dirty="0">
                <a:latin typeface="Verdana"/>
                <a:cs typeface="Verdana"/>
              </a:rPr>
              <a:t>do</a:t>
            </a:r>
            <a:r>
              <a:rPr sz="1400" spc="6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município </a:t>
            </a:r>
            <a:r>
              <a:rPr sz="1400" dirty="0">
                <a:latin typeface="Verdana"/>
                <a:cs typeface="Verdana"/>
              </a:rPr>
              <a:t>pesquisado.</a:t>
            </a:r>
            <a:r>
              <a:rPr sz="1400" spc="50" dirty="0">
                <a:latin typeface="Verdana"/>
                <a:cs typeface="Verdana"/>
              </a:rPr>
              <a:t> </a:t>
            </a:r>
            <a:r>
              <a:rPr sz="1400" spc="65" dirty="0">
                <a:latin typeface="Verdana"/>
                <a:cs typeface="Verdana"/>
              </a:rPr>
              <a:t>A</a:t>
            </a:r>
            <a:r>
              <a:rPr sz="1400" spc="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margem</a:t>
            </a:r>
            <a:r>
              <a:rPr sz="1400" spc="65" dirty="0">
                <a:latin typeface="Verdana"/>
                <a:cs typeface="Verdana"/>
              </a:rPr>
              <a:t> </a:t>
            </a:r>
            <a:r>
              <a:rPr sz="1400" spc="70" dirty="0">
                <a:latin typeface="Verdana"/>
                <a:cs typeface="Verdana"/>
              </a:rPr>
              <a:t>de</a:t>
            </a:r>
            <a:r>
              <a:rPr sz="1400" spc="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erro</a:t>
            </a:r>
            <a:r>
              <a:rPr sz="1400" spc="70" dirty="0">
                <a:latin typeface="Verdana"/>
                <a:cs typeface="Verdana"/>
              </a:rPr>
              <a:t> </a:t>
            </a:r>
            <a:r>
              <a:rPr sz="1400" spc="105" dirty="0">
                <a:latin typeface="Verdana"/>
                <a:cs typeface="Verdana"/>
              </a:rPr>
              <a:t>da</a:t>
            </a:r>
            <a:r>
              <a:rPr sz="1400" spc="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Pesquisa</a:t>
            </a:r>
            <a:r>
              <a:rPr sz="1400" spc="70" dirty="0">
                <a:latin typeface="Verdana"/>
                <a:cs typeface="Verdana"/>
              </a:rPr>
              <a:t> </a:t>
            </a:r>
            <a:r>
              <a:rPr sz="1400" spc="65" dirty="0">
                <a:latin typeface="Verdana"/>
                <a:cs typeface="Verdana"/>
              </a:rPr>
              <a:t>é </a:t>
            </a:r>
            <a:r>
              <a:rPr sz="1400" spc="70" dirty="0">
                <a:latin typeface="Verdana"/>
                <a:cs typeface="Verdana"/>
              </a:rPr>
              <a:t>de</a:t>
            </a:r>
            <a:r>
              <a:rPr sz="1400" spc="80" dirty="0">
                <a:latin typeface="Verdana"/>
                <a:cs typeface="Verdana"/>
              </a:rPr>
              <a:t> </a:t>
            </a:r>
            <a:r>
              <a:rPr lang="pt-BR" sz="1400" spc="-135" dirty="0" smtClean="0">
                <a:latin typeface="Verdana"/>
                <a:cs typeface="Verdana"/>
              </a:rPr>
              <a:t>4.8</a:t>
            </a:r>
            <a:r>
              <a:rPr sz="1400" spc="-135" dirty="0" smtClean="0">
                <a:latin typeface="Verdana"/>
                <a:cs typeface="Verdana"/>
              </a:rPr>
              <a:t>%, </a:t>
            </a:r>
            <a:r>
              <a:rPr sz="1400" spc="60" dirty="0">
                <a:latin typeface="Verdana"/>
                <a:cs typeface="Verdana"/>
              </a:rPr>
              <a:t>com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um</a:t>
            </a:r>
            <a:r>
              <a:rPr sz="1400" spc="30" dirty="0">
                <a:latin typeface="Verdana"/>
                <a:cs typeface="Verdana"/>
              </a:rPr>
              <a:t> </a:t>
            </a:r>
            <a:r>
              <a:rPr sz="1400" spc="-45" dirty="0">
                <a:latin typeface="Verdana"/>
                <a:cs typeface="Verdana"/>
              </a:rPr>
              <a:t>nível</a:t>
            </a:r>
            <a:r>
              <a:rPr sz="1400" spc="40" dirty="0">
                <a:latin typeface="Verdana"/>
                <a:cs typeface="Verdana"/>
              </a:rPr>
              <a:t> </a:t>
            </a:r>
            <a:r>
              <a:rPr sz="1400" spc="70" dirty="0">
                <a:latin typeface="Verdana"/>
                <a:cs typeface="Verdana"/>
              </a:rPr>
              <a:t>de</a:t>
            </a:r>
            <a:r>
              <a:rPr sz="1400" spc="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confiança</a:t>
            </a:r>
            <a:r>
              <a:rPr sz="1400" spc="35" dirty="0">
                <a:latin typeface="Verdana"/>
                <a:cs typeface="Verdana"/>
              </a:rPr>
              <a:t> </a:t>
            </a:r>
            <a:r>
              <a:rPr sz="1400" spc="70" dirty="0">
                <a:latin typeface="Verdana"/>
                <a:cs typeface="Verdana"/>
              </a:rPr>
              <a:t>de</a:t>
            </a:r>
            <a:r>
              <a:rPr sz="1400" spc="30" dirty="0">
                <a:latin typeface="Verdana"/>
                <a:cs typeface="Verdana"/>
              </a:rPr>
              <a:t> </a:t>
            </a:r>
            <a:r>
              <a:rPr lang="pt-BR" sz="1400" spc="-285" dirty="0" smtClean="0">
                <a:latin typeface="Verdana"/>
                <a:cs typeface="Verdana"/>
              </a:rPr>
              <a:t>9</a:t>
            </a:r>
            <a:r>
              <a:rPr lang="pt-BR" sz="1400" spc="-40" dirty="0" smtClean="0">
                <a:latin typeface="Verdana"/>
                <a:cs typeface="Verdana"/>
              </a:rPr>
              <a:t>5 </a:t>
            </a:r>
            <a:r>
              <a:rPr sz="1400" spc="-285" dirty="0">
                <a:latin typeface="Verdana"/>
                <a:cs typeface="Verdana"/>
              </a:rPr>
              <a:t>%</a:t>
            </a:r>
            <a:r>
              <a:rPr sz="1400" spc="16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sobre</a:t>
            </a:r>
            <a:r>
              <a:rPr sz="1400" spc="1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os</a:t>
            </a:r>
            <a:r>
              <a:rPr sz="1400" spc="30" dirty="0">
                <a:latin typeface="Verdana"/>
                <a:cs typeface="Verdana"/>
              </a:rPr>
              <a:t> </a:t>
            </a:r>
            <a:r>
              <a:rPr sz="1400" spc="-30" dirty="0">
                <a:latin typeface="Verdana"/>
                <a:cs typeface="Verdana"/>
              </a:rPr>
              <a:t>resultados </a:t>
            </a:r>
            <a:r>
              <a:rPr sz="1400" spc="-10" dirty="0">
                <a:latin typeface="Verdana"/>
                <a:cs typeface="Verdana"/>
              </a:rPr>
              <a:t>amostrais.</a:t>
            </a:r>
            <a:endParaRPr sz="1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792114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1586688-79F6-4EB3-A815-FB3FA5AEBC78}"/>
              </a:ext>
            </a:extLst>
          </p:cNvPr>
          <p:cNvSpPr/>
          <p:nvPr/>
        </p:nvSpPr>
        <p:spPr>
          <a:xfrm>
            <a:off x="1683028" y="269334"/>
            <a:ext cx="3145413" cy="37196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LOCALIDADES PESQUISADAS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E976094-0737-1425-FC79-F9D363952DB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1" y="89145"/>
            <a:ext cx="1334166" cy="844306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299" y="1737403"/>
            <a:ext cx="4499285" cy="395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650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/>
          <p:nvPr/>
        </p:nvSpPr>
        <p:spPr>
          <a:xfrm>
            <a:off x="2171544" y="218384"/>
            <a:ext cx="3177473" cy="37196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PERFIL DOS ENTREVISTADOS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1173602" y="1237581"/>
            <a:ext cx="32744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ln w="0"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SEXO E FAIXA ETÁRIA</a:t>
            </a:r>
            <a:endParaRPr lang="pt-BR" sz="11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66F6A45-1DF2-DFF7-57A3-59A187E9EE7E}"/>
              </a:ext>
            </a:extLst>
          </p:cNvPr>
          <p:cNvSpPr/>
          <p:nvPr/>
        </p:nvSpPr>
        <p:spPr>
          <a:xfrm>
            <a:off x="4043675" y="3437922"/>
            <a:ext cx="13254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050" b="1" dirty="0">
                <a:ln w="0"/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TABELA 1</a:t>
            </a:r>
            <a:endParaRPr lang="pt-BR" sz="1050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39AC0545-ABC3-F89C-26EA-0B806DD2A4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2541717"/>
              </p:ext>
            </p:extLst>
          </p:nvPr>
        </p:nvGraphicFramePr>
        <p:xfrm>
          <a:off x="1895772" y="1819904"/>
          <a:ext cx="3408642" cy="2479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tângulo de cantos arredondados 21">
            <a:extLst>
              <a:ext uri="{FF2B5EF4-FFF2-40B4-BE49-F238E27FC236}">
                <a16:creationId xmlns:a16="http://schemas.microsoft.com/office/drawing/2014/main" id="{3B782A78-59CB-0DC6-3EC3-E4FACE459D63}"/>
              </a:ext>
            </a:extLst>
          </p:cNvPr>
          <p:cNvSpPr/>
          <p:nvPr/>
        </p:nvSpPr>
        <p:spPr>
          <a:xfrm>
            <a:off x="1895772" y="1872606"/>
            <a:ext cx="3408643" cy="2438400"/>
          </a:xfrm>
          <a:prstGeom prst="roundRect">
            <a:avLst>
              <a:gd name="adj" fmla="val 8420"/>
            </a:avLst>
          </a:prstGeom>
          <a:solidFill>
            <a:schemeClr val="bg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Verdana" pitchFamily="34" charset="0"/>
            </a:endParaRPr>
          </a:p>
        </p:txBody>
      </p:sp>
      <p:sp>
        <p:nvSpPr>
          <p:cNvPr id="6" name="Retângulo de cantos arredondados 9">
            <a:extLst>
              <a:ext uri="{FF2B5EF4-FFF2-40B4-BE49-F238E27FC236}">
                <a16:creationId xmlns:a16="http://schemas.microsoft.com/office/drawing/2014/main" id="{09FE45CB-83EB-4F9B-4D55-0519F58E0F27}"/>
              </a:ext>
            </a:extLst>
          </p:cNvPr>
          <p:cNvSpPr/>
          <p:nvPr/>
        </p:nvSpPr>
        <p:spPr>
          <a:xfrm>
            <a:off x="1895772" y="1756180"/>
            <a:ext cx="1004047" cy="322730"/>
          </a:xfrm>
          <a:prstGeom prst="roundRect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latin typeface="DIN  "/>
              </a:rPr>
              <a:t>Sexo</a:t>
            </a:r>
          </a:p>
        </p:txBody>
      </p:sp>
      <p:pic>
        <p:nvPicPr>
          <p:cNvPr id="7" name="Picture 76" descr="Homem_2">
            <a:extLst>
              <a:ext uri="{FF2B5EF4-FFF2-40B4-BE49-F238E27FC236}">
                <a16:creationId xmlns:a16="http://schemas.microsoft.com/office/drawing/2014/main" id="{1399218D-E56B-7DFA-D11B-58F4E319A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720" y="2335399"/>
            <a:ext cx="252688" cy="307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7" descr="mulher_2">
            <a:extLst>
              <a:ext uri="{FF2B5EF4-FFF2-40B4-BE49-F238E27FC236}">
                <a16:creationId xmlns:a16="http://schemas.microsoft.com/office/drawing/2014/main" id="{9B33D656-0D0D-4772-C7AE-A17972183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11700" y="2325408"/>
            <a:ext cx="273261" cy="317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7BAE9C3F-2A22-0EDA-A895-19F7044FA0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6185711"/>
              </p:ext>
            </p:extLst>
          </p:nvPr>
        </p:nvGraphicFramePr>
        <p:xfrm>
          <a:off x="1420813" y="1564152"/>
          <a:ext cx="2141833" cy="6568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6AD2FBE9-9DF8-7EE8-278A-7FBB898944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0911670"/>
              </p:ext>
            </p:extLst>
          </p:nvPr>
        </p:nvGraphicFramePr>
        <p:xfrm>
          <a:off x="1420813" y="1837633"/>
          <a:ext cx="3566251" cy="12719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A85AD68C-4CE7-0481-EF67-CF15B536F5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0187439"/>
              </p:ext>
            </p:extLst>
          </p:nvPr>
        </p:nvGraphicFramePr>
        <p:xfrm>
          <a:off x="1667762" y="1941992"/>
          <a:ext cx="3823838" cy="23811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3" name="Retângulo de cantos arredondados 22">
            <a:extLst>
              <a:ext uri="{FF2B5EF4-FFF2-40B4-BE49-F238E27FC236}">
                <a16:creationId xmlns:a16="http://schemas.microsoft.com/office/drawing/2014/main" id="{643B95D3-E8CC-04F3-191D-6111FF4583AF}"/>
              </a:ext>
            </a:extLst>
          </p:cNvPr>
          <p:cNvSpPr/>
          <p:nvPr/>
        </p:nvSpPr>
        <p:spPr>
          <a:xfrm>
            <a:off x="1760050" y="5456525"/>
            <a:ext cx="3972535" cy="2438400"/>
          </a:xfrm>
          <a:prstGeom prst="roundRect">
            <a:avLst>
              <a:gd name="adj" fmla="val 8420"/>
            </a:avLst>
          </a:prstGeom>
          <a:solidFill>
            <a:schemeClr val="bg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Verdana" pitchFamily="34" charset="0"/>
            </a:endParaRPr>
          </a:p>
        </p:txBody>
      </p:sp>
      <p:sp>
        <p:nvSpPr>
          <p:cNvPr id="16" name="Retângulo de cantos arredondados 12">
            <a:extLst>
              <a:ext uri="{FF2B5EF4-FFF2-40B4-BE49-F238E27FC236}">
                <a16:creationId xmlns:a16="http://schemas.microsoft.com/office/drawing/2014/main" id="{ACDAE4BA-F81B-3029-29EE-5B7C22E6454B}"/>
              </a:ext>
            </a:extLst>
          </p:cNvPr>
          <p:cNvSpPr/>
          <p:nvPr/>
        </p:nvSpPr>
        <p:spPr>
          <a:xfrm>
            <a:off x="1866399" y="5360287"/>
            <a:ext cx="1004047" cy="322730"/>
          </a:xfrm>
          <a:prstGeom prst="roundRect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latin typeface="DIN  "/>
              </a:rPr>
              <a:t>Faixa Etária</a:t>
            </a:r>
          </a:p>
        </p:txBody>
      </p:sp>
      <p:pic>
        <p:nvPicPr>
          <p:cNvPr id="19" name="Picture 232">
            <a:extLst>
              <a:ext uri="{FF2B5EF4-FFF2-40B4-BE49-F238E27FC236}">
                <a16:creationId xmlns:a16="http://schemas.microsoft.com/office/drawing/2014/main" id="{E1E4DD08-C681-15ED-1607-B01F02B07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563875" y="4959540"/>
            <a:ext cx="1128244" cy="802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0" name="Gráfico 19">
            <a:extLst>
              <a:ext uri="{FF2B5EF4-FFF2-40B4-BE49-F238E27FC236}">
                <a16:creationId xmlns:a16="http://schemas.microsoft.com/office/drawing/2014/main" id="{535F445A-7F24-F168-EB0B-B5994BF1E5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4899182"/>
              </p:ext>
            </p:extLst>
          </p:nvPr>
        </p:nvGraphicFramePr>
        <p:xfrm>
          <a:off x="1760050" y="5712212"/>
          <a:ext cx="3972535" cy="22172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3487465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/>
          <p:nvPr/>
        </p:nvSpPr>
        <p:spPr>
          <a:xfrm>
            <a:off x="2171544" y="218384"/>
            <a:ext cx="3177473" cy="37196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PERFIL DOS ENTREVISTADOS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1173602" y="1237581"/>
            <a:ext cx="32744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ln w="0"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ESCOLARIDADE E RENDA FAMILIAR</a:t>
            </a:r>
            <a:endParaRPr lang="pt-BR" sz="11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Retângulo de cantos arredondados 9">
            <a:extLst>
              <a:ext uri="{FF2B5EF4-FFF2-40B4-BE49-F238E27FC236}">
                <a16:creationId xmlns:a16="http://schemas.microsoft.com/office/drawing/2014/main" id="{09FE45CB-83EB-4F9B-4D55-0519F58E0F27}"/>
              </a:ext>
            </a:extLst>
          </p:cNvPr>
          <p:cNvSpPr/>
          <p:nvPr/>
        </p:nvSpPr>
        <p:spPr>
          <a:xfrm>
            <a:off x="1895772" y="1838078"/>
            <a:ext cx="1533228" cy="240832"/>
          </a:xfrm>
          <a:prstGeom prst="roundRect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latin typeface="DIN  "/>
              </a:rPr>
              <a:t>Escolaridade</a:t>
            </a:r>
          </a:p>
        </p:txBody>
      </p:sp>
      <p:sp>
        <p:nvSpPr>
          <p:cNvPr id="16" name="Retângulo de cantos arredondados 12">
            <a:extLst>
              <a:ext uri="{FF2B5EF4-FFF2-40B4-BE49-F238E27FC236}">
                <a16:creationId xmlns:a16="http://schemas.microsoft.com/office/drawing/2014/main" id="{ACDAE4BA-F81B-3029-29EE-5B7C22E6454B}"/>
              </a:ext>
            </a:extLst>
          </p:cNvPr>
          <p:cNvSpPr/>
          <p:nvPr/>
        </p:nvSpPr>
        <p:spPr>
          <a:xfrm>
            <a:off x="1866399" y="5360287"/>
            <a:ext cx="1004047" cy="322730"/>
          </a:xfrm>
          <a:prstGeom prst="roundRect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latin typeface="DIN  "/>
              </a:rPr>
              <a:t>Renda Familiar</a:t>
            </a:r>
          </a:p>
        </p:txBody>
      </p:sp>
      <p:graphicFrame>
        <p:nvGraphicFramePr>
          <p:cNvPr id="20" name="Gráfico 19">
            <a:extLst>
              <a:ext uri="{FF2B5EF4-FFF2-40B4-BE49-F238E27FC236}">
                <a16:creationId xmlns:a16="http://schemas.microsoft.com/office/drawing/2014/main" id="{535F445A-7F24-F168-EB0B-B5994BF1E5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5690454"/>
              </p:ext>
            </p:extLst>
          </p:nvPr>
        </p:nvGraphicFramePr>
        <p:xfrm>
          <a:off x="1173602" y="5862677"/>
          <a:ext cx="4241665" cy="24812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Gráfico 20">
            <a:extLst>
              <a:ext uri="{FF2B5EF4-FFF2-40B4-BE49-F238E27FC236}">
                <a16:creationId xmlns:a16="http://schemas.microsoft.com/office/drawing/2014/main" id="{FEF6301B-DD17-4FD1-B76B-D78B09D04B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0013871"/>
              </p:ext>
            </p:extLst>
          </p:nvPr>
        </p:nvGraphicFramePr>
        <p:xfrm>
          <a:off x="1304740" y="2258570"/>
          <a:ext cx="3972535" cy="2699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81252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/>
          <p:nvPr/>
        </p:nvSpPr>
        <p:spPr>
          <a:xfrm>
            <a:off x="2171544" y="218384"/>
            <a:ext cx="3177473" cy="37196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PERFIL DOS ENTREVISTADOS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1173602" y="1237581"/>
            <a:ext cx="32744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ln w="0"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RELIGIÃO</a:t>
            </a:r>
            <a:endParaRPr lang="pt-BR" sz="11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66F6A45-1DF2-DFF7-57A3-59A187E9EE7E}"/>
              </a:ext>
            </a:extLst>
          </p:cNvPr>
          <p:cNvSpPr/>
          <p:nvPr/>
        </p:nvSpPr>
        <p:spPr>
          <a:xfrm>
            <a:off x="4043675" y="3437922"/>
            <a:ext cx="13254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050" b="1" dirty="0">
                <a:ln w="0"/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TABELA 1</a:t>
            </a:r>
            <a:endParaRPr lang="pt-BR" sz="1050" b="1" dirty="0">
              <a:solidFill>
                <a:srgbClr val="0070C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39AC0545-ABC3-F89C-26EA-0B806DD2A42E}"/>
              </a:ext>
            </a:extLst>
          </p:cNvPr>
          <p:cNvGraphicFramePr>
            <a:graphicFrameLocks/>
          </p:cNvGraphicFramePr>
          <p:nvPr/>
        </p:nvGraphicFramePr>
        <p:xfrm>
          <a:off x="1895772" y="1819904"/>
          <a:ext cx="3408642" cy="2479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tângulo de cantos arredondados 21">
            <a:extLst>
              <a:ext uri="{FF2B5EF4-FFF2-40B4-BE49-F238E27FC236}">
                <a16:creationId xmlns:a16="http://schemas.microsoft.com/office/drawing/2014/main" id="{3B782A78-59CB-0DC6-3EC3-E4FACE459D63}"/>
              </a:ext>
            </a:extLst>
          </p:cNvPr>
          <p:cNvSpPr/>
          <p:nvPr/>
        </p:nvSpPr>
        <p:spPr>
          <a:xfrm>
            <a:off x="1329725" y="1872606"/>
            <a:ext cx="4287314" cy="2438400"/>
          </a:xfrm>
          <a:prstGeom prst="roundRect">
            <a:avLst>
              <a:gd name="adj" fmla="val 8420"/>
            </a:avLst>
          </a:prstGeom>
          <a:solidFill>
            <a:schemeClr val="bg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Verdana" pitchFamily="34" charset="0"/>
            </a:endParaRPr>
          </a:p>
        </p:txBody>
      </p:sp>
      <p:graphicFrame>
        <p:nvGraphicFramePr>
          <p:cNvPr id="21" name="Gráfico 20">
            <a:extLst>
              <a:ext uri="{FF2B5EF4-FFF2-40B4-BE49-F238E27FC236}">
                <a16:creationId xmlns:a16="http://schemas.microsoft.com/office/drawing/2014/main" id="{FEF6301B-DD17-4FD1-B76B-D78B09D04B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146352"/>
              </p:ext>
            </p:extLst>
          </p:nvPr>
        </p:nvGraphicFramePr>
        <p:xfrm>
          <a:off x="1488864" y="2046319"/>
          <a:ext cx="3972535" cy="22172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61183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82158480-5562-4F29-8DF1-CB662A8094E2}"/>
              </a:ext>
            </a:extLst>
          </p:cNvPr>
          <p:cNvSpPr/>
          <p:nvPr/>
        </p:nvSpPr>
        <p:spPr>
          <a:xfrm>
            <a:off x="2812379" y="1431757"/>
            <a:ext cx="3215441" cy="613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31E488F-60FD-4B09-8B27-6E0690B428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70" t="20069" r="59304" b="22699"/>
          <a:stretch/>
        </p:blipFill>
        <p:spPr>
          <a:xfrm rot="13988763">
            <a:off x="638765" y="3277917"/>
            <a:ext cx="2382252" cy="1395663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1C65054-ACF0-4D63-A5AD-3216CE006624}"/>
              </a:ext>
            </a:extLst>
          </p:cNvPr>
          <p:cNvSpPr/>
          <p:nvPr/>
        </p:nvSpPr>
        <p:spPr>
          <a:xfrm>
            <a:off x="2694282" y="3699020"/>
            <a:ext cx="301241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000" dirty="0">
                <a:ln w="0"/>
                <a:solidFill>
                  <a:srgbClr val="DA82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j-ea"/>
                <a:cs typeface="+mj-cs"/>
              </a:rPr>
              <a:t>TABELAS E </a:t>
            </a:r>
          </a:p>
          <a:p>
            <a:r>
              <a:rPr lang="pt-BR" sz="4000" dirty="0">
                <a:ln w="0"/>
                <a:solidFill>
                  <a:srgbClr val="DA82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j-ea"/>
                <a:cs typeface="+mj-cs"/>
              </a:rPr>
              <a:t>GRÁFICOS</a:t>
            </a:r>
            <a:endParaRPr lang="pt-BR" dirty="0">
              <a:solidFill>
                <a:srgbClr val="DA82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211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519992" y="227169"/>
            <a:ext cx="4772784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AVALIAÇÃO DA ADMINISTRAÇÃO MUNICIPAL DO PREFEITO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CONSTÂNCIO SOUZA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 forma geral, como o Sr.(a) avalia a administração do prefeito de </a:t>
            </a:r>
            <a:r>
              <a:rPr lang="pt-BR" sz="1400" b="1" dirty="0" err="1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pt-BR" sz="1400" b="1" dirty="0" err="1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Constancio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Souza?</a:t>
            </a: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4AC2D562-93AE-4FDC-8A8D-36BC8AD7E2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6168322"/>
              </p:ext>
            </p:extLst>
          </p:nvPr>
        </p:nvGraphicFramePr>
        <p:xfrm>
          <a:off x="389852" y="4482299"/>
          <a:ext cx="6078296" cy="30512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235" y="1926881"/>
            <a:ext cx="2005530" cy="162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30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227169"/>
            <a:ext cx="5151304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APROVAÇÃO DA ADMINISTRAÇÃO MUNICIPAL DO PREFEITO CONSTÂNCIO SOUZA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 Sr.(a) aprova ou desaprova a administração do prefeito de </a:t>
            </a:r>
            <a:r>
              <a:rPr lang="pt-BR" sz="1400" b="1" dirty="0" err="1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pt-BR" sz="1400" b="1" dirty="0" err="1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Constancio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Souza?</a:t>
            </a: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0295A138-E3E8-4A77-AD46-0828509550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4128603"/>
              </p:ext>
            </p:extLst>
          </p:nvPr>
        </p:nvGraphicFramePr>
        <p:xfrm>
          <a:off x="560938" y="4427538"/>
          <a:ext cx="5669450" cy="24635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675" y="1897275"/>
            <a:ext cx="2436650" cy="129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35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227169"/>
            <a:ext cx="4772784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MAIOR PROBLEMA QUE EXISTE NO MUNICÍPIO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Qual o maior problema existente em sua cidade que o Sr.(a) gostaria que fosse resolvido com urgência?</a:t>
            </a: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98BE36B5-4A9A-4116-87F3-C02EB76662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4913509"/>
              </p:ext>
            </p:extLst>
          </p:nvPr>
        </p:nvGraphicFramePr>
        <p:xfrm>
          <a:off x="560938" y="2080337"/>
          <a:ext cx="5669450" cy="6259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67178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519992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APROVAÇÃO DA ADMINISTRAÇÃO MUNICIPAL DO GOVERNADOR CARLOS BRANDÃO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 Sr.(a) aprova ou desaprova a administração do Governador Carlos Brandão?</a:t>
            </a: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4AC2D562-93AE-4FDC-8A8D-36BC8AD7E2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4366048"/>
              </p:ext>
            </p:extLst>
          </p:nvPr>
        </p:nvGraphicFramePr>
        <p:xfrm>
          <a:off x="389852" y="4482299"/>
          <a:ext cx="6078296" cy="30512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2138801"/>
            <a:ext cx="2624692" cy="139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3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227169"/>
            <a:ext cx="5151304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APROVAÇÃO DA ADMINISTRAÇÃO MUNICIPAL DO PRESIDENTE LULA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 Sr.(a) aprova ou desaprova a administração do Presidente Lula?</a:t>
            </a: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0295A138-E3E8-4A77-AD46-0828509550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7749214"/>
              </p:ext>
            </p:extLst>
          </p:nvPr>
        </p:nvGraphicFramePr>
        <p:xfrm>
          <a:off x="560938" y="4427538"/>
          <a:ext cx="5669450" cy="24635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877" y="2000801"/>
            <a:ext cx="2540246" cy="134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54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DEPUTADO ESTADUAL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ESPONTÂNEA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Deputado Estadual fosse hoje, em quem o Sr.(a) Votaria?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98D93A39-D2C5-4F37-A11B-B8C188A4B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3371968"/>
              </p:ext>
            </p:extLst>
          </p:nvPr>
        </p:nvGraphicFramePr>
        <p:xfrm>
          <a:off x="286656" y="4571999"/>
          <a:ext cx="6288314" cy="3418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963" y="1886887"/>
            <a:ext cx="2552073" cy="195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864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DEPUTADO ESTADUAL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Deputado Estadual Fosse hoje e os candidatos fossem estes, em qual o Sr. Votaria?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98D93A39-D2C5-4F37-A11B-B8C188A4B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9870307"/>
              </p:ext>
            </p:extLst>
          </p:nvPr>
        </p:nvGraphicFramePr>
        <p:xfrm>
          <a:off x="286656" y="4571999"/>
          <a:ext cx="6288314" cy="3624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157" y="1972615"/>
            <a:ext cx="3338261" cy="157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70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DEPUTADO FEDERAL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ESPONTÂNEA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Deputado Federal fosse hoje, em quem o Sr.(a) Votaria?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98D93A39-D2C5-4F37-A11B-B8C188A4B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6454723"/>
              </p:ext>
            </p:extLst>
          </p:nvPr>
        </p:nvGraphicFramePr>
        <p:xfrm>
          <a:off x="228600" y="4571999"/>
          <a:ext cx="6400800" cy="3562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217" y="1816599"/>
            <a:ext cx="2418733" cy="217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44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DEPUTADO FEDERAL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Deputado Federal Fosse hoje e os candidatos fossem estes, em qual o Sr. Votaria?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98D93A39-D2C5-4F37-A11B-B8C188A4B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9057899"/>
              </p:ext>
            </p:extLst>
          </p:nvPr>
        </p:nvGraphicFramePr>
        <p:xfrm>
          <a:off x="286656" y="4572000"/>
          <a:ext cx="6288314" cy="3756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725" y="1930028"/>
            <a:ext cx="3623342" cy="171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29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 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GOVERNADOR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Governador do Maranhão Fosse </a:t>
            </a:r>
            <a:r>
              <a:rPr lang="pt-BR" sz="1400" b="1" dirty="0" err="1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hj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e os candidatos fossem estes, em qual o Sr. Votaria?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98D93A39-D2C5-4F37-A11B-B8C188A4B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720878"/>
              </p:ext>
            </p:extLst>
          </p:nvPr>
        </p:nvGraphicFramePr>
        <p:xfrm>
          <a:off x="228600" y="4571999"/>
          <a:ext cx="6400800" cy="3562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687" y="1972615"/>
            <a:ext cx="2410625" cy="187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879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 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SENADOR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Senador do Maranhão fosse hoje, e os candidatos fossem estes, em qual o Sr. Votaria?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98D93A39-D2C5-4F37-A11B-B8C188A4B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210052"/>
              </p:ext>
            </p:extLst>
          </p:nvPr>
        </p:nvGraphicFramePr>
        <p:xfrm>
          <a:off x="228600" y="4571999"/>
          <a:ext cx="6400800" cy="3562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566" y="1972615"/>
            <a:ext cx="2427151" cy="219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654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 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PRESIDENTE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12. Se a eleição para Presidente fosse hoje, e os candidatos fossem estes, em qual o Sr. Votaria?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98D93A39-D2C5-4F37-A11B-B8C188A4B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843646"/>
              </p:ext>
            </p:extLst>
          </p:nvPr>
        </p:nvGraphicFramePr>
        <p:xfrm>
          <a:off x="228600" y="4571999"/>
          <a:ext cx="6400800" cy="3562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222" y="1897274"/>
            <a:ext cx="2156625" cy="185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662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PREFEITO – ELEIÇÕES 2028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ESPONTÂNEA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 próxima eleição para prefeito de </a:t>
            </a:r>
            <a:r>
              <a:rPr lang="pt-BR" sz="1400" b="1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será em 2028. Mas se a eleição de prefeito fosse hoje, em quem o </a:t>
            </a:r>
            <a:r>
              <a:rPr lang="pt-BR" sz="1400" b="1" dirty="0" err="1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Sr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(a) Votaria?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98D93A39-D2C5-4F37-A11B-B8C188A4B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4979193"/>
              </p:ext>
            </p:extLst>
          </p:nvPr>
        </p:nvGraphicFramePr>
        <p:xfrm>
          <a:off x="286656" y="4571999"/>
          <a:ext cx="6288314" cy="3418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925851"/>
            <a:ext cx="2361726" cy="213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496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PREFEITO – ELEIÇÕES 2028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 – CENÁRIO I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prefeito de </a:t>
            </a:r>
            <a:r>
              <a:rPr lang="pt-BR" sz="1400" b="1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 2028 fossem entres estes candidatos, em qual o Sr. Votaria??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98D93A39-D2C5-4F37-A11B-B8C188A4B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3223700"/>
              </p:ext>
            </p:extLst>
          </p:nvPr>
        </p:nvGraphicFramePr>
        <p:xfrm>
          <a:off x="286656" y="4571999"/>
          <a:ext cx="6288314" cy="3418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599" y="1897275"/>
            <a:ext cx="2720337" cy="185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04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PREFEITO – ELEIÇÕES 2028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 – CENÁRIO II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prefeito de </a:t>
            </a:r>
            <a:r>
              <a:rPr lang="pt-BR" sz="1400" b="1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 2028 fossem entres estes candidatos, em qual o Sr. Votaria??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98D93A39-D2C5-4F37-A11B-B8C188A4B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355012"/>
              </p:ext>
            </p:extLst>
          </p:nvPr>
        </p:nvGraphicFramePr>
        <p:xfrm>
          <a:off x="286656" y="4571999"/>
          <a:ext cx="6288314" cy="3418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929" y="1973949"/>
            <a:ext cx="2455045" cy="155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0317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PREFEITO – ELEIÇÕES 2028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 – CENÁRIO III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prefeito de </a:t>
            </a:r>
            <a:r>
              <a:rPr lang="pt-BR" sz="1400" b="1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 2028 fossem entres estes candidatos, em qual o Sr. Votaria??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8D93A39-D2C5-4F37-A11B-B8C188A4B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8123494"/>
              </p:ext>
            </p:extLst>
          </p:nvPr>
        </p:nvGraphicFramePr>
        <p:xfrm>
          <a:off x="286656" y="4571999"/>
          <a:ext cx="6288314" cy="3418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218" y="2070418"/>
            <a:ext cx="2695159" cy="143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82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PREFEITO – ELEIÇÕES 2028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 – CENÁRIO IV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prefeito de </a:t>
            </a:r>
            <a:r>
              <a:rPr lang="pt-BR" sz="1400" b="1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 2028 fossem entres estes candidatos, em qual o Sr. Votaria??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8D93A39-D2C5-4F37-A11B-B8C188A4B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5105141"/>
              </p:ext>
            </p:extLst>
          </p:nvPr>
        </p:nvGraphicFramePr>
        <p:xfrm>
          <a:off x="286656" y="4571999"/>
          <a:ext cx="6288314" cy="3418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471" y="1999603"/>
            <a:ext cx="2369431" cy="150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289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PREFEITO – ELEIÇÕES 2028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 – CENÁRIO V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prefeito de </a:t>
            </a:r>
            <a:r>
              <a:rPr lang="pt-BR" sz="1400" b="1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 2028 fossem entres estes candidatos, em qual o Sr. Votaria??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8D93A39-D2C5-4F37-A11B-B8C188A4B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1157842"/>
              </p:ext>
            </p:extLst>
          </p:nvPr>
        </p:nvGraphicFramePr>
        <p:xfrm>
          <a:off x="286656" y="4571999"/>
          <a:ext cx="6288314" cy="3418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050" y="1972615"/>
            <a:ext cx="2715860" cy="144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721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PREFEITO – ELEIÇÕES 2028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 – CENÁRIO VI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prefeito de </a:t>
            </a:r>
            <a:r>
              <a:rPr lang="pt-BR" sz="1400" b="1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 2028 fossem entres estes candidatos, em qual o Sr. Votaria??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8D93A39-D2C5-4F37-A11B-B8C188A4B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6328358"/>
              </p:ext>
            </p:extLst>
          </p:nvPr>
        </p:nvGraphicFramePr>
        <p:xfrm>
          <a:off x="286656" y="4571999"/>
          <a:ext cx="6288314" cy="3418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954" y="2070418"/>
            <a:ext cx="2347858" cy="148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246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PREFEITO – ELEIÇÕES 2028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 – CENÁRIO VII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prefeito de </a:t>
            </a:r>
            <a:r>
              <a:rPr lang="pt-BR" sz="1400" b="1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 2028 fossem entres estes candidatos, em qual o Sr. Votaria??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8D93A39-D2C5-4F37-A11B-B8C188A4B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6930061"/>
              </p:ext>
            </p:extLst>
          </p:nvPr>
        </p:nvGraphicFramePr>
        <p:xfrm>
          <a:off x="286656" y="4571999"/>
          <a:ext cx="6288314" cy="3418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17" y="1897275"/>
            <a:ext cx="2617565" cy="138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561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REJEIÇÃO </a:t>
            </a:r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PREFEITO – ELEIÇÕES 2028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 qual desses nomes o Sr.(a) não votaria de jeito nenhum para prefeito de </a:t>
            </a:r>
            <a:r>
              <a:rPr lang="pt-BR" sz="1400" b="1" dirty="0" err="1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Cajarí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?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8D93A39-D2C5-4F37-A11B-B8C188A4B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8385622"/>
              </p:ext>
            </p:extLst>
          </p:nvPr>
        </p:nvGraphicFramePr>
        <p:xfrm>
          <a:off x="286656" y="4571999"/>
          <a:ext cx="6288314" cy="3418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220" y="1972615"/>
            <a:ext cx="2931559" cy="177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4092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82158480-5562-4F29-8DF1-CB662A8094E2}"/>
              </a:ext>
            </a:extLst>
          </p:cNvPr>
          <p:cNvSpPr/>
          <p:nvPr/>
        </p:nvSpPr>
        <p:spPr>
          <a:xfrm>
            <a:off x="2812379" y="1431757"/>
            <a:ext cx="3215441" cy="613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1C65054-ACF0-4D63-A5AD-3216CE006624}"/>
              </a:ext>
            </a:extLst>
          </p:cNvPr>
          <p:cNvSpPr/>
          <p:nvPr/>
        </p:nvSpPr>
        <p:spPr>
          <a:xfrm>
            <a:off x="1156641" y="2613170"/>
            <a:ext cx="454471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dirty="0">
                <a:ln w="0"/>
                <a:solidFill>
                  <a:srgbClr val="DA82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j-ea"/>
                <a:cs typeface="+mj-cs"/>
              </a:rPr>
              <a:t>RESULTADOS POR PERFIL DA AMOSTRA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A239F61-7B7F-4FAD-BB27-F57761769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962" y="3838575"/>
            <a:ext cx="3228975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6146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519992" y="227169"/>
            <a:ext cx="4772784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AVALIAÇÃO DA ADMINISTRAÇÃO MUNICIPAL DO PREFEITO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CONSTÂNCIO SOUZA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 forma geral, como o Sr.(a) avalia a administração do prefeito de </a:t>
            </a:r>
            <a:r>
              <a:rPr lang="pt-BR" sz="1400" b="1" dirty="0" err="1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pt-BR" sz="1400" b="1" dirty="0" err="1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Constancio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Souza?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62" y="1981412"/>
            <a:ext cx="6473462" cy="31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948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227169"/>
            <a:ext cx="5151304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APROVAÇÃO DA ADMINISTRAÇÃO MUNICIPAL DO PREFEITO CONSTÂNCIO SOUZA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 Sr.(a) aprova ou desaprova a administração do prefeito de </a:t>
            </a:r>
            <a:r>
              <a:rPr lang="pt-BR" sz="1400" b="1" dirty="0" err="1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pt-BR" sz="1400" b="1" dirty="0" err="1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Constancio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Souza?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99" y="2286000"/>
            <a:ext cx="6360734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46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519992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APROVAÇÃO DA ADMINISTRAÇÃO MUNICIPAL DO GOVERNADOR CARLOS BRANDÃO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 Sr.(a) aprova ou desaprova a administração do Governador Carlos Brandão?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7" y="2243135"/>
            <a:ext cx="6418563" cy="317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5650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227169"/>
            <a:ext cx="5151304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APROVAÇÃO DA ADMINISTRAÇÃO MUNICIPAL DO PRESIDENTE LULA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 Sr.(a) aprova ou desaprova a administração do Presidente Lula?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52" y="2041070"/>
            <a:ext cx="6191392" cy="305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537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DEPUTADO ESTADUAL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ESPONTÂNEA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Deputado Estadual fosse hoje, em quem o Sr.(a) Votaria?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73" y="2123866"/>
            <a:ext cx="6430651" cy="283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171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DEPUTADO ESTADUAL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Deputado Estadual Fosse hoje e os candidatos fossem estes, em qual o Sr. Votaria?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95" y="2257424"/>
            <a:ext cx="6579001" cy="313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4206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DEPUTADO FEDERAL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ESPONTÂNEA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Deputado Federal fosse hoje, em quem o Sr.(a) Votaria?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61" y="2209800"/>
            <a:ext cx="6609039" cy="313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358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DEPUTADO FEDERAL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Deputado Federal Fosse hoje e os candidatos fossem estes, em qual o Sr. Votaria?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3" y="2281766"/>
            <a:ext cx="6605587" cy="328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1806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 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GOVERNADOR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Governador do Maranhão Fosse </a:t>
            </a:r>
            <a:r>
              <a:rPr lang="pt-BR" sz="1400" b="1" dirty="0" err="1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hj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e os candidatos fossem estes, em qual o Sr. Votaria?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87" y="2286000"/>
            <a:ext cx="5869501" cy="313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0627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 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SENADOR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Senador do Maranhão fosse hoje, e os candidatos fossem estes, em qual o Sr. Votaria?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3" y="2286000"/>
            <a:ext cx="6611251" cy="313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942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 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PRESIDENTE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12. Se a eleição para Presidente fosse hoje, e os candidatos fossem estes, em qual o Sr. Votaria?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49" y="2292381"/>
            <a:ext cx="6540301" cy="29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788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PREFEITO – ELEIÇÕES 2028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ESPONTÂNEA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 próxima eleição para prefeito de </a:t>
            </a:r>
            <a:r>
              <a:rPr lang="pt-BR" sz="1400" b="1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será em 2028. Mas se a eleição de prefeito fosse hoje, em quem o </a:t>
            </a:r>
            <a:r>
              <a:rPr lang="pt-BR" sz="1400" b="1" dirty="0" err="1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Sr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(a) Votaria?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1" y="2281766"/>
            <a:ext cx="6605587" cy="328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721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PREFEITO – ELEIÇÕES 2028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 – CENÁRIO I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prefeito de </a:t>
            </a:r>
            <a:r>
              <a:rPr lang="pt-BR" sz="1400" b="1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 2028 fossem entres estes candidatos, em qual o Sr. Votaria??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" y="2258014"/>
            <a:ext cx="6353251" cy="29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340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PREFEITO – ELEIÇÕES 2028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 – CENÁRIO II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prefeito de </a:t>
            </a:r>
            <a:r>
              <a:rPr lang="pt-BR" sz="1400" b="1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 2028 fossem entres estes candidatos, em qual o Sr. Votaria??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74" y="2166728"/>
            <a:ext cx="6069451" cy="283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867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PREFEITO – ELEIÇÕES 2028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 – CENÁRIO III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prefeito de </a:t>
            </a:r>
            <a:r>
              <a:rPr lang="pt-BR" sz="1400" b="1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 2028 fossem entres estes candidatos, em qual o Sr. Votaria??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24" y="2123866"/>
            <a:ext cx="6320822" cy="327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4827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PREFEITO – ELEIÇÕES 2028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 – CENÁRIO IV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prefeito de </a:t>
            </a:r>
            <a:r>
              <a:rPr lang="pt-BR" sz="1400" b="1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 2028 fossem entres estes candidatos, em qual o Sr. Votaria??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38" y="2286000"/>
            <a:ext cx="6343857" cy="330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2883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PREFEITO – ELEIÇÕES 2028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 – CENÁRIO V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prefeito de </a:t>
            </a:r>
            <a:r>
              <a:rPr lang="pt-BR" sz="1400" b="1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 2028 fossem entres estes candidatos, em qual o Sr. Votaria??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62" y="2166729"/>
            <a:ext cx="6343157" cy="327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090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PREFEITO – ELEIÇÕES 2028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 – CENÁRIO VI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prefeito de </a:t>
            </a:r>
            <a:r>
              <a:rPr lang="pt-BR" sz="1400" b="1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 2028 fossem entres estes candidatos, em qual o Sr. Votaria??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61" y="2286000"/>
            <a:ext cx="6323968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8863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INTENÇÃO 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PREFEITO – ELEIÇÕES 2028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 – CENÁRIO VII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 a eleição para prefeito de </a:t>
            </a:r>
            <a:r>
              <a:rPr lang="pt-BR" sz="1400" b="1" dirty="0" err="1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Cajari</a:t>
            </a:r>
            <a:r>
              <a:rPr lang="pt-BR" sz="1400" b="1" dirty="0" smtClean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 2028 fossem entres estes candidatos, em qual o Sr. Votaria??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11" y="2123866"/>
            <a:ext cx="6475382" cy="337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5709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4A0BE7D-8BD8-43C7-952F-78836011EA1A}"/>
              </a:ext>
            </a:extLst>
          </p:cNvPr>
          <p:cNvSpPr/>
          <p:nvPr/>
        </p:nvSpPr>
        <p:spPr>
          <a:xfrm>
            <a:off x="1447800" y="119447"/>
            <a:ext cx="4772784" cy="7386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REJEIÇÃO </a:t>
            </a:r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DE VOTO PARA</a:t>
            </a:r>
          </a:p>
          <a:p>
            <a:pPr algn="ctr"/>
            <a:r>
              <a:rPr lang="pt-BR" sz="1400" b="1" dirty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PREFEITO – ELEIÇÕES 2028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400" b="1" dirty="0" smtClean="0">
                <a:ln/>
                <a:solidFill>
                  <a:srgbClr val="00B050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ESTIMULADA</a:t>
            </a:r>
            <a:endParaRPr lang="pt-BR" sz="1400" b="1" dirty="0">
              <a:ln/>
              <a:solidFill>
                <a:srgbClr val="00B050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020518-B3B3-454E-A246-7FB450C00868}"/>
              </a:ext>
            </a:extLst>
          </p:cNvPr>
          <p:cNvSpPr/>
          <p:nvPr/>
        </p:nvSpPr>
        <p:spPr>
          <a:xfrm>
            <a:off x="798697" y="1153753"/>
            <a:ext cx="52606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 qual desses nomes o Sr.(a) não votaria de jeito nenhum para prefeito de </a:t>
            </a:r>
            <a:r>
              <a:rPr lang="pt-BR" sz="1400" b="1" dirty="0" err="1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Cajarí</a:t>
            </a:r>
            <a:r>
              <a:rPr lang="pt-BR" sz="1400" b="1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?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74" y="2258014"/>
            <a:ext cx="6430651" cy="29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94058"/>
      </p:ext>
    </p:extLst>
  </p:cSld>
  <p:clrMapOvr>
    <a:masterClrMapping/>
  </p:clrMapOvr>
</p:sld>
</file>

<file path=ppt/theme/theme1.xml><?xml version="1.0" encoding="utf-8"?>
<a:theme xmlns:a="http://schemas.openxmlformats.org/drawingml/2006/main" name="Selo">
  <a:themeElements>
    <a:clrScheme name="Personalizada 1">
      <a:dk1>
        <a:sysClr val="windowText" lastClr="000000"/>
      </a:dk1>
      <a:lt1>
        <a:sysClr val="window" lastClr="FFFFFF"/>
      </a:lt1>
      <a:dk2>
        <a:srgbClr val="C2C5BA"/>
      </a:dk2>
      <a:lt2>
        <a:srgbClr val="FFFFFF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Selo">
      <a:majorFont>
        <a:latin typeface="Impact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l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80610</TotalTime>
  <Words>1358</Words>
  <Application>Microsoft Office PowerPoint</Application>
  <PresentationFormat>Apresentação na tela (4:3)</PresentationFormat>
  <Paragraphs>177</Paragraphs>
  <Slides>49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9" baseType="lpstr">
      <vt:lpstr>Agency FB</vt:lpstr>
      <vt:lpstr>Arial</vt:lpstr>
      <vt:lpstr>Arial Narrow</vt:lpstr>
      <vt:lpstr>Calibri</vt:lpstr>
      <vt:lpstr>DIN  </vt:lpstr>
      <vt:lpstr>Gill Sans MT</vt:lpstr>
      <vt:lpstr>Impact</vt:lpstr>
      <vt:lpstr>Times New Roman</vt:lpstr>
      <vt:lpstr>Verdana</vt:lpstr>
      <vt:lpstr>Selo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adm</dc:creator>
  <cp:lastModifiedBy>i5_8GBNVMe_WINDOWS10</cp:lastModifiedBy>
  <cp:revision>2603</cp:revision>
  <cp:lastPrinted>2019-04-26T09:28:35Z</cp:lastPrinted>
  <dcterms:created xsi:type="dcterms:W3CDTF">2016-02-03T22:52:03Z</dcterms:created>
  <dcterms:modified xsi:type="dcterms:W3CDTF">2026-06-14T13:39:13Z</dcterms:modified>
</cp:coreProperties>
</file>